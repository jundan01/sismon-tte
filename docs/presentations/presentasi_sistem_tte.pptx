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pagi/siang bapak/ibu sekalian. Hari ini kami mempresentasikan Sistem Monitoring Penerbitan TTE dan Pelayanan Email Dinas Resmi Pemerintah Kota Cirebon versi 4.1. Sistem ini telah melalui tahap audit kode program menyeluruh dan siap beroperasi di level produksi skala nasional.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Latar belakang sistem ini berfokus pada 3 regulasi utama: SPBE 95/2018, UU PDP 27/2022, dan aturan penerbitan BSrE BSSN. Sistem lama memiliki kerentanan besar karena memakai Google Forms dan tidak memiliki sistem monitoring kadaluarsa.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matriks komparasi ini menunjukkan bahwa seluruh 5 masalah konvensional telah dijawab dengan solusi arsitektural yang terbukti stabil dan telah diaudit.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KPI operasional menetapkan uptime 99.9%, load time di bawah 2 detik pada jaringan 3G, RAM stabil di bawah 20MB saat ekspor laporan, dan query dashboard di bawah 25ms.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Teknologi backend menggunakan Laravel 13 dan PHP 8.3, didukung PostgreSQL 16 dengan Native Partitioning dan Redis 7. Seluruh infrastruktur dibungkus dalam Docker Compose dengan named volumes terisolasi.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 transaksi dibagi menjadi 3 tahap teratur: Pendaftaran mandiri oleh ASN publik; Verifikasi dan rekapitulasi email oleh Superadmin via VPN; serta Penerbitan sertifikat BSrE dengan kalkulasi otomatis 2 tahun dan scanning harian.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Portal publik dibuat sangat ringan tanpa upload berkas, 100% lokal tanpa CDN luar, dan auto-save draft ke sessionStorage tanpa menyimpan NIK/NIP demi kepatuhan UU PDP.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Generator email dinas membersihkan gelar akademik secara otomatis dan menyusun format nama.nip@cirebonkota.go.id. Di panel admin, verifikator cukup klik tombol Gunakan Usulan dan Kunci &amp; Rekap Email via AJAX.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Keamanan perimeter Zero-Trust mengisolasi login admin ke subnet VPN Diskominfo. Akses dari IP publik dijawab dengan HTTP 404 murni sehingga menyembunyikan eksistensi portal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Sistem menerapkan 8 lapisan Defense-in-Depth yang saling melengkapi. Dari jaringan luar hingga database lokal, setiap komponen memiliki mekanisme pengamanan berlapis.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Fitur Cursor Streaming menjamin server tidak akan crash saat mengekspor data laporan dalam jumlah jutaan baris, karena RAM PHP terkunci stabil di bawah 20MB.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Skema database terdiri dari 8 tabel normalisasi dengan Partial Unique Indexing dan Native Monthly Partitioning pada tabel log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Hasil audit 4 pilar telah menuntaskan 11 temuan perbaikan: Keamanan PII browser, IAM Step-Up Auth, Database Cursor Streaming, dan Penegakan Environment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Panduan operasional merinci perintah deployment standar dan mitigasi cepat jika terjadi error operasional E-01 sampai E-12.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memetakan rute resmi dan akun seeder default untuk keperluan operasional.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penutup, sistem telah 100% siap digunakan untuk melayani ASN Kota Cirebon. Terima kasih atas perhatian bapak/ibu sekalian.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1371600"/>
            <a:ext cx="4114800" cy="320040"/>
          </a:xfrm>
          <a:prstGeom prst="rect">
            <a:avLst/>
          </a:prstGeom>
          <a:solidFill>
            <a:srgbClr val="1E293B"/>
          </a:solidFill>
          <a:ln w="12700">
            <a:solidFill>
              <a:srgbClr val="06B6D4"/>
            </a:solidFill>
            <a:prstDash val="solid"/>
          </a:ln>
        </p:spPr>
      </p:sp>
      <p:sp>
        <p:nvSpPr>
          <p:cNvPr id="3" name="Text 1"/>
          <p:cNvSpPr/>
          <p:nvPr/>
        </p:nvSpPr>
        <p:spPr>
          <a:xfrm>
            <a:off x="731520" y="1371600"/>
            <a:ext cx="4114800" cy="320040"/>
          </a:xfrm>
          <a:prstGeom prst="rect">
            <a:avLst/>
          </a:prstGeom>
          <a:noFill/>
          <a:ln/>
        </p:spPr>
        <p:txBody>
          <a:bodyPr wrap="square" rtlCol="0" anchor="ctr"/>
          <a:lstStyle/>
          <a:p>
            <a:pPr algn="ctr" indent="0" marL="0">
              <a:buNone/>
            </a:pPr>
            <a:r>
              <a:rPr lang="en-US" sz="900" b="1" dirty="0">
                <a:solidFill>
                  <a:srgbClr val="06B6D4"/>
                </a:solidFill>
                <a:latin typeface="Courier New" pitchFamily="34" charset="0"/>
                <a:ea typeface="Courier New" pitchFamily="34" charset="-122"/>
                <a:cs typeface="Courier New" pitchFamily="34" charset="-120"/>
              </a:rPr>
              <a:t>DOKUMEN PRESENTASI RESMI SKALA NASIONAL</a:t>
            </a:r>
            <a:endParaRPr lang="en-US" sz="900" dirty="0"/>
          </a:p>
        </p:txBody>
      </p:sp>
      <p:sp>
        <p:nvSpPr>
          <p:cNvPr id="4" name="Text 2"/>
          <p:cNvSpPr/>
          <p:nvPr/>
        </p:nvSpPr>
        <p:spPr>
          <a:xfrm>
            <a:off x="731520" y="2011680"/>
            <a:ext cx="10515600" cy="1645920"/>
          </a:xfrm>
          <a:prstGeom prst="rect">
            <a:avLst/>
          </a:prstGeom>
          <a:noFill/>
          <a:ln/>
        </p:spPr>
        <p:txBody>
          <a:bodyPr wrap="square" rtlCol="0" anchor="ctr"/>
          <a:lstStyle/>
          <a:p>
            <a:pPr indent="0" marL="0">
              <a:lnSpc>
                <a:spcPts val="3800"/>
              </a:lnSpc>
              <a:buNone/>
            </a:pPr>
            <a:r>
              <a:rPr lang="en-US" sz="3200" b="1" dirty="0">
                <a:solidFill>
                  <a:srgbClr val="FFFFFF"/>
                </a:solidFill>
                <a:latin typeface="Arial" pitchFamily="34" charset="0"/>
                <a:ea typeface="Arial" pitchFamily="34" charset="-122"/>
                <a:cs typeface="Arial" pitchFamily="34" charset="-120"/>
              </a:rPr>
              <a:t>SISTEM MONITORING PENERBITAN TTE</a:t>
            </a:r>
            <a:endParaRPr lang="en-US" sz="3200" dirty="0"/>
          </a:p>
          <a:p>
            <a:pPr indent="0" marL="0">
              <a:lnSpc>
                <a:spcPts val="3800"/>
              </a:lnSpc>
              <a:buNone/>
            </a:pPr>
            <a:r>
              <a:rPr lang="en-US" sz="3200" b="1" dirty="0">
                <a:solidFill>
                  <a:srgbClr val="FFFFFF"/>
                </a:solidFill>
                <a:latin typeface="Arial" pitchFamily="34" charset="0"/>
                <a:ea typeface="Arial" pitchFamily="34" charset="-122"/>
                <a:cs typeface="Arial" pitchFamily="34" charset="-120"/>
              </a:rPr>
              <a:t>&amp; PELAYANAN EMAIL DINAS RESMI</a:t>
            </a:r>
            <a:endParaRPr lang="en-US" sz="3200" dirty="0"/>
          </a:p>
        </p:txBody>
      </p:sp>
      <p:sp>
        <p:nvSpPr>
          <p:cNvPr id="5" name="Text 3"/>
          <p:cNvSpPr/>
          <p:nvPr/>
        </p:nvSpPr>
        <p:spPr>
          <a:xfrm>
            <a:off x="731520" y="3840480"/>
            <a:ext cx="10515600" cy="822960"/>
          </a:xfrm>
          <a:prstGeom prst="rect">
            <a:avLst/>
          </a:prstGeom>
          <a:noFill/>
          <a:ln/>
        </p:spPr>
        <p:txBody>
          <a:bodyPr wrap="square" rtlCol="0" anchor="ctr"/>
          <a:lstStyle/>
          <a:p>
            <a:pPr indent="0" marL="0">
              <a:buNone/>
            </a:pPr>
            <a:r>
              <a:rPr lang="en-US" sz="1400" dirty="0">
                <a:solidFill>
                  <a:srgbClr val="94A3B8"/>
                </a:solidFill>
                <a:latin typeface="Arial" pitchFamily="34" charset="0"/>
                <a:ea typeface="Arial" pitchFamily="34" charset="-122"/>
                <a:cs typeface="Arial" pitchFamily="34" charset="-120"/>
              </a:rPr>
              <a:t>Pemerintah Kota Cirebon — Dinas Komunikasi dan Informatika / Bidang Persandian</a:t>
            </a:r>
            <a:endParaRPr lang="en-US" sz="1400" dirty="0"/>
          </a:p>
          <a:p>
            <a:pPr indent="0" marL="0">
              <a:buNone/>
            </a:pPr>
            <a:r>
              <a:rPr lang="en-US" sz="1400" dirty="0">
                <a:solidFill>
                  <a:srgbClr val="94A3B8"/>
                </a:solidFill>
                <a:latin typeface="Arial" pitchFamily="34" charset="0"/>
                <a:ea typeface="Arial" pitchFamily="34" charset="-122"/>
                <a:cs typeface="Arial" pitchFamily="34" charset="-120"/>
              </a:rPr>
              <a:t>Transformasi Digital SPBE Berdaulat, Efisien, dan Aman (V4.1 Post-Audit Hardened)</a:t>
            </a:r>
            <a:endParaRPr lang="en-US" sz="1400" dirty="0"/>
          </a:p>
        </p:txBody>
      </p:sp>
      <p:sp>
        <p:nvSpPr>
          <p:cNvPr id="6" name="Shape 4"/>
          <p:cNvSpPr/>
          <p:nvPr/>
        </p:nvSpPr>
        <p:spPr>
          <a:xfrm>
            <a:off x="731520" y="5029200"/>
            <a:ext cx="10698480" cy="1005840"/>
          </a:xfrm>
          <a:prstGeom prst="rect">
            <a:avLst/>
          </a:prstGeom>
          <a:solidFill>
            <a:srgbClr val="1E293B"/>
          </a:solidFill>
          <a:ln w="12700">
            <a:solidFill>
              <a:srgbClr val="334155"/>
            </a:solidFill>
            <a:prstDash val="solid"/>
          </a:ln>
        </p:spPr>
      </p:sp>
      <p:sp>
        <p:nvSpPr>
          <p:cNvPr id="7" name="Text 5"/>
          <p:cNvSpPr/>
          <p:nvPr/>
        </p:nvSpPr>
        <p:spPr>
          <a:xfrm>
            <a:off x="914400" y="5212080"/>
            <a:ext cx="10332720" cy="640080"/>
          </a:xfrm>
          <a:prstGeom prst="rect">
            <a:avLst/>
          </a:prstGeom>
          <a:noFill/>
          <a:ln/>
        </p:spPr>
        <p:txBody>
          <a:bodyPr wrap="square" rtlCol="0" anchor="ctr"/>
          <a:lstStyle/>
          <a:p>
            <a:pPr algn="ctr" indent="0" marL="0">
              <a:buNone/>
            </a:pPr>
            <a:r>
              <a:rPr lang="en-US" sz="1000" b="1" dirty="0">
                <a:solidFill>
                  <a:srgbClr val="06B6D4"/>
                </a:solidFill>
                <a:latin typeface="Courier New" pitchFamily="34" charset="0"/>
                <a:ea typeface="Courier New" pitchFamily="34" charset="-122"/>
                <a:cs typeface="Courier New" pitchFamily="34" charset="-120"/>
              </a:rPr>
              <a:t>FRAMEWORK: </a:t>
            </a:r>
            <a:pPr algn="ctr" indent="0" marL="0">
              <a:buNone/>
            </a:pPr>
            <a:r>
              <a:rPr lang="en-US" sz="1000" dirty="0">
                <a:solidFill>
                  <a:srgbClr val="FFFFFF"/>
                </a:solidFill>
                <a:latin typeface="Courier New" pitchFamily="34" charset="0"/>
                <a:ea typeface="Courier New" pitchFamily="34" charset="-122"/>
                <a:cs typeface="Courier New" pitchFamily="34" charset="-120"/>
              </a:rPr>
              <a:t>Laravel 13 + PHP 8.3 FPM    </a:t>
            </a:r>
            <a:pPr algn="ctr" indent="0" marL="0">
              <a:buNone/>
            </a:pPr>
            <a:r>
              <a:rPr lang="en-US" sz="1000" b="1" dirty="0">
                <a:solidFill>
                  <a:srgbClr val="06B6D4"/>
                </a:solidFill>
                <a:latin typeface="Courier New" pitchFamily="34" charset="0"/>
                <a:ea typeface="Courier New" pitchFamily="34" charset="-122"/>
                <a:cs typeface="Courier New" pitchFamily="34" charset="-120"/>
              </a:rPr>
              <a:t>DATABASE: </a:t>
            </a:r>
            <a:pPr algn="ctr" indent="0" marL="0">
              <a:buNone/>
            </a:pPr>
            <a:r>
              <a:rPr lang="en-US" sz="1000" dirty="0">
                <a:solidFill>
                  <a:srgbClr val="FFFFFF"/>
                </a:solidFill>
                <a:latin typeface="Courier New" pitchFamily="34" charset="0"/>
                <a:ea typeface="Courier New" pitchFamily="34" charset="-122"/>
                <a:cs typeface="Courier New" pitchFamily="34" charset="-120"/>
              </a:rPr>
              <a:t>PostgreSQL 16 + Redis 7    </a:t>
            </a:r>
            <a:pPr algn="ctr" indent="0" marL="0">
              <a:buNone/>
            </a:pPr>
            <a:r>
              <a:rPr lang="en-US" sz="1000" b="1" dirty="0">
                <a:solidFill>
                  <a:srgbClr val="06B6D4"/>
                </a:solidFill>
                <a:latin typeface="Courier New" pitchFamily="34" charset="0"/>
                <a:ea typeface="Courier New" pitchFamily="34" charset="-122"/>
                <a:cs typeface="Courier New" pitchFamily="34" charset="-120"/>
              </a:rPr>
              <a:t>PERIMETER: </a:t>
            </a:r>
            <a:pPr algn="ctr" indent="0" marL="0">
              <a:buNone/>
            </a:pPr>
            <a:r>
              <a:rPr lang="en-US" sz="1000" dirty="0">
                <a:solidFill>
                  <a:srgbClr val="FFFFFF"/>
                </a:solidFill>
                <a:latin typeface="Courier New" pitchFamily="34" charset="0"/>
                <a:ea typeface="Courier New" pitchFamily="34" charset="-122"/>
                <a:cs typeface="Courier New" pitchFamily="34" charset="-120"/>
              </a:rPr>
              <a:t>Zero-Trust VPN Gateway    </a:t>
            </a:r>
            <a:pPr algn="ctr" indent="0" marL="0">
              <a:buNone/>
            </a:pPr>
            <a:r>
              <a:rPr lang="en-US" sz="1000" b="1" dirty="0">
                <a:solidFill>
                  <a:srgbClr val="06B6D4"/>
                </a:solidFill>
                <a:latin typeface="Courier New" pitchFamily="34" charset="0"/>
                <a:ea typeface="Courier New" pitchFamily="34" charset="-122"/>
                <a:cs typeface="Courier New" pitchFamily="34" charset="-120"/>
              </a:rPr>
              <a:t>VERSI: </a:t>
            </a:r>
            <a:pPr algn="ctr" indent="0" marL="0">
              <a:buNone/>
            </a:pPr>
            <a:r>
              <a:rPr lang="en-US" sz="1000" dirty="0">
                <a:solidFill>
                  <a:srgbClr val="FFFFFF"/>
                </a:solidFill>
                <a:latin typeface="Courier New" pitchFamily="34" charset="0"/>
                <a:ea typeface="Courier New" pitchFamily="34" charset="-122"/>
                <a:cs typeface="Courier New" pitchFamily="34" charset="-120"/>
              </a:rPr>
              <a:t>3.2.0-PROD (V4.1)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01. PENDAHULUAN &amp; REGULASI</a:t>
            </a:r>
            <a:endParaRPr lang="en-US" sz="1000" dirty="0"/>
          </a:p>
        </p:txBody>
      </p:sp>
      <p:sp>
        <p:nvSpPr>
          <p:cNvPr id="3" name="Text 1"/>
          <p:cNvSpPr/>
          <p:nvPr/>
        </p:nvSpPr>
        <p:spPr>
          <a:xfrm>
            <a:off x="731520" y="594360"/>
            <a:ext cx="10515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Latar Belakang &amp; Urgensi Pembangunan Sistem</a:t>
            </a:r>
            <a:endParaRPr lang="en-US" sz="2000" dirty="0"/>
          </a:p>
        </p:txBody>
      </p:sp>
      <p:sp>
        <p:nvSpPr>
          <p:cNvPr id="4" name="Shape 2"/>
          <p:cNvSpPr/>
          <p:nvPr/>
        </p:nvSpPr>
        <p:spPr>
          <a:xfrm>
            <a:off x="731520" y="1143000"/>
            <a:ext cx="10698480" cy="0"/>
          </a:xfrm>
          <a:prstGeom prst="line">
            <a:avLst/>
          </a:prstGeom>
          <a:noFill/>
          <a:ln w="12700">
            <a:solidFill>
              <a:srgbClr val="334155"/>
            </a:solidFill>
            <a:prstDash val="solid"/>
          </a:ln>
        </p:spPr>
      </p:sp>
      <p:sp>
        <p:nvSpPr>
          <p:cNvPr id="5" name="Text 3"/>
          <p:cNvSpPr/>
          <p:nvPr/>
        </p:nvSpPr>
        <p:spPr>
          <a:xfrm>
            <a:off x="731520" y="6492240"/>
            <a:ext cx="9144000"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DISKOMINFO / BIDANG PERSANDIAN KOTA CIREBON • SISTEM MONITORING TTE V4.1</a:t>
            </a:r>
            <a:endParaRPr lang="en-US" sz="900" dirty="0"/>
          </a:p>
        </p:txBody>
      </p:sp>
      <p:sp>
        <p:nvSpPr>
          <p:cNvPr id="6" name="Shape 4"/>
          <p:cNvSpPr/>
          <p:nvPr/>
        </p:nvSpPr>
        <p:spPr>
          <a:xfrm>
            <a:off x="731520" y="1463040"/>
            <a:ext cx="3383280" cy="3108960"/>
          </a:xfrm>
          <a:prstGeom prst="rect">
            <a:avLst/>
          </a:prstGeom>
          <a:solidFill>
            <a:srgbClr val="1E293B"/>
          </a:solidFill>
          <a:ln w="19050">
            <a:solidFill>
              <a:srgbClr val="06B6D4"/>
            </a:solidFill>
            <a:prstDash val="solid"/>
          </a:ln>
        </p:spPr>
      </p:sp>
      <p:sp>
        <p:nvSpPr>
          <p:cNvPr id="7" name="Text 5"/>
          <p:cNvSpPr/>
          <p:nvPr/>
        </p:nvSpPr>
        <p:spPr>
          <a:xfrm>
            <a:off x="914400" y="1645920"/>
            <a:ext cx="301752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 Mandat SPBE &amp; BSrE BSSN</a:t>
            </a:r>
            <a:endParaRPr lang="en-US" sz="1300" dirty="0"/>
          </a:p>
        </p:txBody>
      </p:sp>
      <p:sp>
        <p:nvSpPr>
          <p:cNvPr id="8" name="Text 6"/>
          <p:cNvSpPr/>
          <p:nvPr/>
        </p:nvSpPr>
        <p:spPr>
          <a:xfrm>
            <a:off x="914400" y="2103120"/>
            <a:ext cx="3017520" cy="2286000"/>
          </a:xfrm>
          <a:prstGeom prst="rect">
            <a:avLst/>
          </a:prstGeom>
          <a:noFill/>
          <a:ln/>
        </p:spPr>
        <p:txBody>
          <a:bodyPr wrap="square" rtlCol="0" anchor="ctr"/>
          <a:lstStyle/>
          <a:p>
            <a:pPr indent="0" marL="0">
              <a:lnSpc>
                <a:spcPts val="1500"/>
              </a:lnSpc>
              <a:buNone/>
            </a:pPr>
            <a:r>
              <a:rPr lang="en-US" sz="1000" dirty="0">
                <a:solidFill>
                  <a:srgbClr val="94A3B8"/>
                </a:solidFill>
                <a:latin typeface="Arial" pitchFamily="34" charset="0"/>
                <a:ea typeface="Arial" pitchFamily="34" charset="-122"/>
                <a:cs typeface="Arial" pitchFamily="34" charset="-120"/>
              </a:rPr>
              <a:t>Sesuai Perpres No. 95/2018, seluruh naskah dinas kedinasan (SK, SPT, Nota Dinas) wajib beralih ke dokumen elektronik terotentikasi. Diskominfo bermitra resmi dengan BSrE BSSN sebagai Registration Authority.</a:t>
            </a:r>
            <a:endParaRPr lang="en-US" sz="1000" dirty="0"/>
          </a:p>
        </p:txBody>
      </p:sp>
      <p:sp>
        <p:nvSpPr>
          <p:cNvPr id="9" name="Shape 7"/>
          <p:cNvSpPr/>
          <p:nvPr/>
        </p:nvSpPr>
        <p:spPr>
          <a:xfrm>
            <a:off x="4389120" y="1463040"/>
            <a:ext cx="3383280" cy="3108960"/>
          </a:xfrm>
          <a:prstGeom prst="rect">
            <a:avLst/>
          </a:prstGeom>
          <a:solidFill>
            <a:srgbClr val="1E293B"/>
          </a:solidFill>
          <a:ln w="19050">
            <a:solidFill>
              <a:srgbClr val="F59E0B"/>
            </a:solidFill>
            <a:prstDash val="solid"/>
          </a:ln>
        </p:spPr>
      </p:sp>
      <p:sp>
        <p:nvSpPr>
          <p:cNvPr id="10" name="Text 8"/>
          <p:cNvSpPr/>
          <p:nvPr/>
        </p:nvSpPr>
        <p:spPr>
          <a:xfrm>
            <a:off x="4572000" y="1645920"/>
            <a:ext cx="301752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 Kepatuhan UU PDP No. 27/2022</a:t>
            </a:r>
            <a:endParaRPr lang="en-US" sz="1300" dirty="0"/>
          </a:p>
        </p:txBody>
      </p:sp>
      <p:sp>
        <p:nvSpPr>
          <p:cNvPr id="11" name="Text 9"/>
          <p:cNvSpPr/>
          <p:nvPr/>
        </p:nvSpPr>
        <p:spPr>
          <a:xfrm>
            <a:off x="4572000" y="2103120"/>
            <a:ext cx="3017520" cy="2286000"/>
          </a:xfrm>
          <a:prstGeom prst="rect">
            <a:avLst/>
          </a:prstGeom>
          <a:noFill/>
          <a:ln/>
        </p:spPr>
        <p:txBody>
          <a:bodyPr wrap="square" rtlCol="0" anchor="ctr"/>
          <a:lstStyle/>
          <a:p>
            <a:pPr indent="0" marL="0">
              <a:lnSpc>
                <a:spcPts val="1500"/>
              </a:lnSpc>
              <a:buNone/>
            </a:pPr>
            <a:r>
              <a:rPr lang="en-US" sz="1000" dirty="0">
                <a:solidFill>
                  <a:srgbClr val="94A3B8"/>
                </a:solidFill>
                <a:latin typeface="Arial" pitchFamily="34" charset="0"/>
                <a:ea typeface="Arial" pitchFamily="34" charset="-122"/>
                <a:cs typeface="Arial" pitchFamily="34" charset="-120"/>
              </a:rPr>
              <a:t>Pengumpulan data sensitif NIK 16 digit &amp; NIP 18 digit ASN mewajibkan Pemkot bertindak sebagai Pengendali Data Pribadi yang menerapkan enkripsi at-rest dan isolasi akses ketat.</a:t>
            </a:r>
            <a:endParaRPr lang="en-US" sz="1000" dirty="0"/>
          </a:p>
        </p:txBody>
      </p:sp>
      <p:sp>
        <p:nvSpPr>
          <p:cNvPr id="12" name="Shape 10"/>
          <p:cNvSpPr/>
          <p:nvPr/>
        </p:nvSpPr>
        <p:spPr>
          <a:xfrm>
            <a:off x="8046720" y="1463040"/>
            <a:ext cx="3383280" cy="3108960"/>
          </a:xfrm>
          <a:prstGeom prst="rect">
            <a:avLst/>
          </a:prstGeom>
          <a:solidFill>
            <a:srgbClr val="1E293B"/>
          </a:solidFill>
          <a:ln w="19050">
            <a:solidFill>
              <a:srgbClr val="10B981"/>
            </a:solidFill>
            <a:prstDash val="solid"/>
          </a:ln>
        </p:spPr>
      </p:sp>
      <p:sp>
        <p:nvSpPr>
          <p:cNvPr id="13" name="Text 11"/>
          <p:cNvSpPr/>
          <p:nvPr/>
        </p:nvSpPr>
        <p:spPr>
          <a:xfrm>
            <a:off x="8229600" y="1645920"/>
            <a:ext cx="301752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 Syarat Email Dinas Resmi</a:t>
            </a:r>
            <a:endParaRPr lang="en-US" sz="1300" dirty="0"/>
          </a:p>
        </p:txBody>
      </p:sp>
      <p:sp>
        <p:nvSpPr>
          <p:cNvPr id="14" name="Text 12"/>
          <p:cNvSpPr/>
          <p:nvPr/>
        </p:nvSpPr>
        <p:spPr>
          <a:xfrm>
            <a:off x="8229600" y="2103120"/>
            <a:ext cx="3017520" cy="2286000"/>
          </a:xfrm>
          <a:prstGeom prst="rect">
            <a:avLst/>
          </a:prstGeom>
          <a:noFill/>
          <a:ln/>
        </p:spPr>
        <p:txBody>
          <a:bodyPr wrap="square" rtlCol="0" anchor="ctr"/>
          <a:lstStyle/>
          <a:p>
            <a:pPr indent="0" marL="0">
              <a:lnSpc>
                <a:spcPts val="1500"/>
              </a:lnSpc>
              <a:buNone/>
            </a:pPr>
            <a:r>
              <a:rPr lang="en-US" sz="1000" dirty="0">
                <a:solidFill>
                  <a:srgbClr val="94A3B8"/>
                </a:solidFill>
                <a:latin typeface="Arial" pitchFamily="34" charset="0"/>
                <a:ea typeface="Arial" pitchFamily="34" charset="-122"/>
                <a:cs typeface="Arial" pitchFamily="34" charset="-120"/>
              </a:rPr>
              <a:t>BSrE BSSN mewajibkan akun email dinas resmi @cirebonkota.go.id sebagai identitas tunggal penerbitan sertifikat TTE bagi seluruh aparatur sipil negara.</a:t>
            </a:r>
            <a:endParaRPr lang="en-US" sz="1000" dirty="0"/>
          </a:p>
        </p:txBody>
      </p:sp>
      <p:sp>
        <p:nvSpPr>
          <p:cNvPr id="15" name="Shape 13"/>
          <p:cNvSpPr/>
          <p:nvPr/>
        </p:nvSpPr>
        <p:spPr>
          <a:xfrm>
            <a:off x="731520" y="4846320"/>
            <a:ext cx="10698480" cy="1371600"/>
          </a:xfrm>
          <a:prstGeom prst="rect">
            <a:avLst/>
          </a:prstGeom>
          <a:solidFill>
            <a:srgbClr val="1E293B"/>
          </a:solidFill>
          <a:ln w="12700">
            <a:solidFill>
              <a:srgbClr val="334155"/>
            </a:solidFill>
            <a:prstDash val="solid"/>
          </a:ln>
        </p:spPr>
      </p:sp>
      <p:sp>
        <p:nvSpPr>
          <p:cNvPr id="16" name="Text 14"/>
          <p:cNvSpPr/>
          <p:nvPr/>
        </p:nvSpPr>
        <p:spPr>
          <a:xfrm>
            <a:off x="914400" y="4937760"/>
            <a:ext cx="10332720" cy="274320"/>
          </a:xfrm>
          <a:prstGeom prst="rect">
            <a:avLst/>
          </a:prstGeom>
          <a:noFill/>
          <a:ln/>
        </p:spPr>
        <p:txBody>
          <a:bodyPr wrap="square" rtlCol="0" anchor="ctr"/>
          <a:lstStyle/>
          <a:p>
            <a:pPr indent="0" marL="0">
              <a:buNone/>
            </a:pPr>
            <a:r>
              <a:rPr lang="en-US" sz="1100" b="1" dirty="0">
                <a:solidFill>
                  <a:srgbClr val="F43F5E"/>
                </a:solidFill>
                <a:latin typeface="Arial" pitchFamily="34" charset="0"/>
                <a:ea typeface="Arial" pitchFamily="34" charset="-122"/>
                <a:cs typeface="Arial" pitchFamily="34" charset="-120"/>
              </a:rPr>
              <a:t>⚠️ Evaluasi Masalah Ekosistem Lama:</a:t>
            </a:r>
            <a:endParaRPr lang="en-US" sz="1100" dirty="0"/>
          </a:p>
        </p:txBody>
      </p:sp>
      <p:sp>
        <p:nvSpPr>
          <p:cNvPr id="17" name="Text 15"/>
          <p:cNvSpPr/>
          <p:nvPr/>
        </p:nvSpPr>
        <p:spPr>
          <a:xfrm>
            <a:off x="914400" y="5257800"/>
            <a:ext cx="10332720" cy="822960"/>
          </a:xfrm>
          <a:prstGeom prst="rect">
            <a:avLst/>
          </a:prstGeom>
          <a:noFill/>
          <a:ln/>
        </p:spPr>
        <p:txBody>
          <a:bodyPr wrap="square" rtlCol="0" anchor="ctr"/>
          <a:lstStyle/>
          <a:p>
            <a:pPr indent="0" marL="0">
              <a:lnSpc>
                <a:spcPts val="1400"/>
              </a:lnSpc>
              <a:buNone/>
            </a:pPr>
            <a:r>
              <a:rPr lang="en-US" sz="950" b="1" dirty="0">
                <a:solidFill>
                  <a:srgbClr val="FFFFFF"/>
                </a:solidFill>
                <a:latin typeface="Arial" pitchFamily="34" charset="0"/>
                <a:ea typeface="Arial" pitchFamily="34" charset="-122"/>
                <a:cs typeface="Arial" pitchFamily="34" charset="-120"/>
              </a:rPr>
              <a:t>1. Penggunaan Google Forms: </a:t>
            </a:r>
            <a:pPr indent="0" marL="0">
              <a:lnSpc>
                <a:spcPts val="1400"/>
              </a:lnSpc>
              <a:buNone/>
            </a:pPr>
            <a:r>
              <a:rPr lang="en-US" sz="950" dirty="0">
                <a:solidFill>
                  <a:srgbClr val="94A3B8"/>
                </a:solidFill>
                <a:latin typeface="Arial" pitchFamily="34" charset="0"/>
                <a:ea typeface="Arial" pitchFamily="34" charset="-122"/>
                <a:cs typeface="Arial" pitchFamily="34" charset="-120"/>
              </a:rPr>
              <a:t>Data NIK/NIP tersimpan di cloud luar negeri tanpa enkripsi lokal (Melanggar UU PDP).
</a:t>
            </a:r>
            <a:pPr indent="0" marL="0">
              <a:lnSpc>
                <a:spcPts val="1400"/>
              </a:lnSpc>
              <a:buNone/>
            </a:pPr>
            <a:r>
              <a:rPr lang="en-US" sz="950" b="1" dirty="0">
                <a:solidFill>
                  <a:srgbClr val="FFFFFF"/>
                </a:solidFill>
                <a:latin typeface="Arial" pitchFamily="34" charset="0"/>
                <a:ea typeface="Arial" pitchFamily="34" charset="-122"/>
                <a:cs typeface="Arial" pitchFamily="34" charset="-120"/>
              </a:rPr>
              <a:t>2. Usulan Email Tidak Seragam: </a:t>
            </a:r>
            <a:pPr indent="0" marL="0">
              <a:lnSpc>
                <a:spcPts val="1400"/>
              </a:lnSpc>
              <a:buNone/>
            </a:pPr>
            <a:r>
              <a:rPr lang="en-US" sz="950" dirty="0">
                <a:solidFill>
                  <a:srgbClr val="94A3B8"/>
                </a:solidFill>
                <a:latin typeface="Arial" pitchFamily="34" charset="0"/>
                <a:ea typeface="Arial" pitchFamily="34" charset="-122"/>
                <a:cs typeface="Arial" pitchFamily="34" charset="-120"/>
              </a:rPr>
              <a:t>Banyak ASN belum punya email dinas atau format acak yang memicu konflik mailbox.
</a:t>
            </a:r>
            <a:pPr indent="0" marL="0">
              <a:lnSpc>
                <a:spcPts val="1400"/>
              </a:lnSpc>
              <a:buNone/>
            </a:pPr>
            <a:r>
              <a:rPr lang="en-US" sz="950" b="1" dirty="0">
                <a:solidFill>
                  <a:srgbClr val="FFFFFF"/>
                </a:solidFill>
                <a:latin typeface="Arial" pitchFamily="34" charset="0"/>
                <a:ea typeface="Arial" pitchFamily="34" charset="-122"/>
                <a:cs typeface="Arial" pitchFamily="34" charset="-120"/>
              </a:rPr>
              <a:t>3. Sertifikat Mati Senyap: </a:t>
            </a:r>
            <a:pPr indent="0" marL="0">
              <a:lnSpc>
                <a:spcPts val="1400"/>
              </a:lnSpc>
              <a:buNone/>
            </a:pPr>
            <a:r>
              <a:rPr lang="en-US" sz="950" dirty="0">
                <a:solidFill>
                  <a:srgbClr val="94A3B8"/>
                </a:solidFill>
                <a:latin typeface="Arial" pitchFamily="34" charset="0"/>
                <a:ea typeface="Arial" pitchFamily="34" charset="-122"/>
                <a:cs typeface="Arial" pitchFamily="34" charset="-120"/>
              </a:rPr>
              <a:t>Masa aktif 2 tahun habis tanpa peringatan H-3, menghambat penandatanganan dokumen dinas.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02. ANALISIS MASALAH &amp; SOLUSI</a:t>
            </a:r>
            <a:endParaRPr lang="en-US" sz="1000" dirty="0"/>
          </a:p>
        </p:txBody>
      </p:sp>
      <p:sp>
        <p:nvSpPr>
          <p:cNvPr id="3" name="Text 1"/>
          <p:cNvSpPr/>
          <p:nvPr/>
        </p:nvSpPr>
        <p:spPr>
          <a:xfrm>
            <a:off x="731520" y="594360"/>
            <a:ext cx="10515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Matriks Masalah Operasional vs Solusi Teruji V4.1</a:t>
            </a:r>
            <a:endParaRPr lang="en-US" sz="2000" dirty="0"/>
          </a:p>
        </p:txBody>
      </p:sp>
      <p:sp>
        <p:nvSpPr>
          <p:cNvPr id="4" name="Shape 2"/>
          <p:cNvSpPr/>
          <p:nvPr/>
        </p:nvSpPr>
        <p:spPr>
          <a:xfrm>
            <a:off x="731520" y="1143000"/>
            <a:ext cx="10698480" cy="0"/>
          </a:xfrm>
          <a:prstGeom prst="line">
            <a:avLst/>
          </a:prstGeom>
          <a:noFill/>
          <a:ln w="12700">
            <a:solidFill>
              <a:srgbClr val="334155"/>
            </a:solidFill>
            <a:prstDash val="solid"/>
          </a:ln>
        </p:spPr>
      </p:sp>
      <p:sp>
        <p:nvSpPr>
          <p:cNvPr id="5" name="Text 3"/>
          <p:cNvSpPr/>
          <p:nvPr/>
        </p:nvSpPr>
        <p:spPr>
          <a:xfrm>
            <a:off x="731520" y="6492240"/>
            <a:ext cx="9144000"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DISKOMINFO / BIDANG PERSANDIAN KOTA CIREBON • SISTEM MONITORING TTE V4.1</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10698480" cy="914400"/>
        </p:xfrm>
        <a:graphic>
          <a:graphicData uri="http://schemas.openxmlformats.org/drawingml/2006/table">
            <a:tbl>
              <a:tblPr/>
              <a:tblGrid>
                <a:gridCol w="2560320"/>
                <a:gridCol w="3840480"/>
                <a:gridCol w="4297680"/>
              </a:tblGrid>
              <a:tr h="0">
                <a:tc>
                  <a:txBody>
                    <a:bodyPr/>
                    <a:lstStyle/>
                    <a:p>
                      <a:pPr indent="0" marL="0">
                        <a:buNone/>
                      </a:pPr>
                      <a:r>
                        <a:rPr lang="en-US" sz="900" b="1" dirty="0">
                          <a:solidFill>
                            <a:srgbClr val="FFFFFF"/>
                          </a:solidFill>
                          <a:latin typeface="Arial" pitchFamily="34" charset="0"/>
                          <a:ea typeface="Arial" pitchFamily="34" charset="-122"/>
                          <a:cs typeface="Arial" pitchFamily="34" charset="-120"/>
                        </a:rPr>
                        <a:t>Masalah Operasional Lama</a:t>
                      </a:r>
                      <a:endParaRPr lang="en-US" sz="90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334155"/>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Risiko &amp; Dampak Sistemik</a:t>
                      </a:r>
                      <a:endParaRPr lang="en-US" sz="90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334155"/>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Solusi Teruji Sistem V4.1 (Hardened)</a:t>
                      </a:r>
                      <a:endParaRPr lang="en-US" sz="90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334155"/>
                    </a:solidFill>
                  </a:tcPr>
                </a:tc>
              </a:tr>
              <a:tr h="0">
                <a:tc>
                  <a:txBody>
                    <a:bodyPr/>
                    <a:lstStyle/>
                    <a:p>
                      <a:pPr indent="0" marL="0">
                        <a:buNone/>
                      </a:pPr>
                      <a:r>
                        <a:rPr lang="en-US" sz="900" dirty="0">
                          <a:solidFill>
                            <a:srgbClr val="94A3B8"/>
                          </a:solidFill>
                          <a:latin typeface="Arial" pitchFamily="34" charset="0"/>
                          <a:ea typeface="Arial" pitchFamily="34" charset="-122"/>
                          <a:cs typeface="Arial" pitchFamily="34" charset="-120"/>
                        </a:rPr>
                        <a:t>Form Publik Google Forms</a:t>
                      </a:r>
                      <a:endParaRPr lang="en-US" sz="90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Arial" pitchFamily="34" charset="0"/>
                          <a:ea typeface="Arial" pitchFamily="34" charset="-122"/>
                          <a:cs typeface="Arial" pitchFamily="34" charset="-120"/>
                        </a:rPr>
                        <a:t>Pelanggaran UU PDP, data di server luar negeri tanpa enkripsi at-rest.</a:t>
                      </a:r>
                      <a:endParaRPr lang="en-US" sz="90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Arial" pitchFamily="34" charset="0"/>
                          <a:ea typeface="Arial" pitchFamily="34" charset="-122"/>
                          <a:cs typeface="Arial" pitchFamily="34" charset="-120"/>
                        </a:rPr>
                        <a:t>Portal Mandiri On-Premise: Enkripsi AES-256-GCM + Blind Indexing PostgreSQL 16.</a:t>
                      </a:r>
                      <a:endParaRPr lang="en-US" sz="90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900" dirty="0">
                          <a:solidFill>
                            <a:srgbClr val="94A3B8"/>
                          </a:solidFill>
                          <a:latin typeface="Arial" pitchFamily="34" charset="0"/>
                          <a:ea typeface="Arial" pitchFamily="34" charset="-122"/>
                          <a:cs typeface="Arial" pitchFamily="34" charset="-120"/>
                        </a:rPr>
                        <a:t>Login Admin Terbuka di Internet</a:t>
                      </a:r>
                      <a:endParaRPr lang="en-US" sz="90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Arial" pitchFamily="34" charset="0"/>
                          <a:ea typeface="Arial" pitchFamily="34" charset="-122"/>
                          <a:cs typeface="Arial" pitchFamily="34" charset="-120"/>
                        </a:rPr>
                        <a:t>Target credential stuffing, bot brute-force, port scanning, dan DDoS.</a:t>
                      </a:r>
                      <a:endParaRPr lang="en-US" sz="90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Arial" pitchFamily="34" charset="0"/>
                          <a:ea typeface="Arial" pitchFamily="34" charset="-122"/>
                          <a:cs typeface="Arial" pitchFamily="34" charset="-120"/>
                        </a:rPr>
                        <a:t>Zero-Trust VPN Gateway: Rute /gateway/login khusus VPN Diskominfo + Stealth 404.</a:t>
                      </a:r>
                      <a:endParaRPr lang="en-US" sz="90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900" dirty="0">
                          <a:solidFill>
                            <a:srgbClr val="94A3B8"/>
                          </a:solidFill>
                          <a:latin typeface="Arial" pitchFamily="34" charset="0"/>
                          <a:ea typeface="Arial" pitchFamily="34" charset="-122"/>
                          <a:cs typeface="Arial" pitchFamily="34" charset="-120"/>
                        </a:rPr>
                        <a:t>Format Usulan Email Acak</a:t>
                      </a:r>
                      <a:endParaRPr lang="en-US" sz="90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Arial" pitchFamily="34" charset="0"/>
                          <a:ea typeface="Arial" pitchFamily="34" charset="-122"/>
                          <a:cs typeface="Arial" pitchFamily="34" charset="-120"/>
                        </a:rPr>
                        <a:t>Konflik mailbox di mail server dan penolakan penerbitan oleh BSrE.</a:t>
                      </a:r>
                      <a:endParaRPr lang="en-US" sz="90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Arial" pitchFamily="34" charset="0"/>
                          <a:ea typeface="Arial" pitchFamily="34" charset="-122"/>
                          <a:cs typeface="Arial" pitchFamily="34" charset="-120"/>
                        </a:rPr>
                        <a:t>Auto Email Generator: nama.nip@cirebonkota.go.id + Widget Rekap Email AJAX 1-Klik.</a:t>
                      </a:r>
                      <a:endParaRPr lang="en-US" sz="90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900" dirty="0">
                          <a:solidFill>
                            <a:srgbClr val="94A3B8"/>
                          </a:solidFill>
                          <a:latin typeface="Arial" pitchFamily="34" charset="0"/>
                          <a:ea typeface="Arial" pitchFamily="34" charset="-122"/>
                          <a:cs typeface="Arial" pitchFamily="34" charset="-120"/>
                        </a:rPr>
                        <a:t>Beban Unggah Dokumen Berkas</a:t>
                      </a:r>
                      <a:endParaRPr lang="en-US" sz="90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Arial" pitchFamily="34" charset="0"/>
                          <a:ea typeface="Arial" pitchFamily="34" charset="-122"/>
                          <a:cs typeface="Arial" pitchFamily="34" charset="-120"/>
                        </a:rPr>
                        <a:t>Koneksi seluler pelosok putus, gagal upload file berulang kali.</a:t>
                      </a:r>
                      <a:endParaRPr lang="en-US" sz="90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Arial" pitchFamily="34" charset="0"/>
                          <a:ea typeface="Arial" pitchFamily="34" charset="-122"/>
                          <a:cs typeface="Arial" pitchFamily="34" charset="-120"/>
                        </a:rPr>
                        <a:t>Form Ramping Bebas Upload (&lt; 5KB) + SessionStorage draft auto-save aman.</a:t>
                      </a:r>
                      <a:endParaRPr lang="en-US" sz="90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900" dirty="0">
                          <a:solidFill>
                            <a:srgbClr val="94A3B8"/>
                          </a:solidFill>
                          <a:latin typeface="Arial" pitchFamily="34" charset="0"/>
                          <a:ea typeface="Arial" pitchFamily="34" charset="-122"/>
                          <a:cs typeface="Arial" pitchFamily="34" charset="-120"/>
                        </a:rPr>
                        <a:t>Ekspor Data Massal Crash (OOM)</a:t>
                      </a:r>
                      <a:endParaRPr lang="en-US" sz="90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Arial" pitchFamily="34" charset="0"/>
                          <a:ea typeface="Arial" pitchFamily="34" charset="-122"/>
                          <a:cs typeface="Arial" pitchFamily="34" charset="-120"/>
                        </a:rPr>
                        <a:t>PHP Fatal Error / Out of Memory saat ekspor ratusan ribu records.</a:t>
                      </a:r>
                      <a:endParaRPr lang="en-US" sz="90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Arial" pitchFamily="34" charset="0"/>
                          <a:ea typeface="Arial" pitchFamily="34" charset="-122"/>
                          <a:cs typeface="Arial" pitchFamily="34" charset="-120"/>
                        </a:rPr>
                        <a:t>Database Cursor Streaming: Single query leftJoin cursor, RAM stabil &lt; 20MB, 0 N+1.</a:t>
                      </a:r>
                      <a:endParaRPr lang="en-US" sz="90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03. SASARAN STRATEGIS</a:t>
            </a:r>
            <a:endParaRPr lang="en-US" sz="1000" dirty="0"/>
          </a:p>
        </p:txBody>
      </p:sp>
      <p:sp>
        <p:nvSpPr>
          <p:cNvPr id="3" name="Text 1"/>
          <p:cNvSpPr/>
          <p:nvPr/>
        </p:nvSpPr>
        <p:spPr>
          <a:xfrm>
            <a:off x="731520" y="594360"/>
            <a:ext cx="10515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Tujuan Pembangunan &amp; Target KPI Operasional</a:t>
            </a:r>
            <a:endParaRPr lang="en-US" sz="2000" dirty="0"/>
          </a:p>
        </p:txBody>
      </p:sp>
      <p:sp>
        <p:nvSpPr>
          <p:cNvPr id="4" name="Shape 2"/>
          <p:cNvSpPr/>
          <p:nvPr/>
        </p:nvSpPr>
        <p:spPr>
          <a:xfrm>
            <a:off x="731520" y="1143000"/>
            <a:ext cx="10698480" cy="0"/>
          </a:xfrm>
          <a:prstGeom prst="line">
            <a:avLst/>
          </a:prstGeom>
          <a:noFill/>
          <a:ln w="12700">
            <a:solidFill>
              <a:srgbClr val="334155"/>
            </a:solidFill>
            <a:prstDash val="solid"/>
          </a:ln>
        </p:spPr>
      </p:sp>
      <p:sp>
        <p:nvSpPr>
          <p:cNvPr id="5" name="Text 3"/>
          <p:cNvSpPr/>
          <p:nvPr/>
        </p:nvSpPr>
        <p:spPr>
          <a:xfrm>
            <a:off x="731520" y="6492240"/>
            <a:ext cx="9144000"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DISKOMINFO / BIDANG PERSANDIAN KOTA CIREBON • SISTEM MONITORING TTE V4.1</a:t>
            </a:r>
            <a:endParaRPr lang="en-US" sz="900" dirty="0"/>
          </a:p>
        </p:txBody>
      </p:sp>
      <p:sp>
        <p:nvSpPr>
          <p:cNvPr id="6" name="Shape 4"/>
          <p:cNvSpPr/>
          <p:nvPr/>
        </p:nvSpPr>
        <p:spPr>
          <a:xfrm>
            <a:off x="731520" y="1463040"/>
            <a:ext cx="5120640" cy="4754880"/>
          </a:xfrm>
          <a:prstGeom prst="rect">
            <a:avLst/>
          </a:prstGeom>
          <a:solidFill>
            <a:srgbClr val="1E293B"/>
          </a:solidFill>
          <a:ln w="19050">
            <a:solidFill>
              <a:srgbClr val="06B6D4"/>
            </a:solidFill>
            <a:prstDash val="solid"/>
          </a:ln>
        </p:spPr>
      </p:sp>
      <p:sp>
        <p:nvSpPr>
          <p:cNvPr id="7" name="Text 5"/>
          <p:cNvSpPr/>
          <p:nvPr/>
        </p:nvSpPr>
        <p:spPr>
          <a:xfrm>
            <a:off x="914400" y="1645920"/>
            <a:ext cx="475488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Sasaran Bisnis &amp; Tata Kelola</a:t>
            </a:r>
            <a:endParaRPr lang="en-US" sz="1400" dirty="0"/>
          </a:p>
        </p:txBody>
      </p:sp>
      <p:sp>
        <p:nvSpPr>
          <p:cNvPr id="8" name="Text 6"/>
          <p:cNvSpPr/>
          <p:nvPr/>
        </p:nvSpPr>
        <p:spPr>
          <a:xfrm>
            <a:off x="914400" y="2103120"/>
            <a:ext cx="4754880" cy="3931920"/>
          </a:xfrm>
          <a:prstGeom prst="rect">
            <a:avLst/>
          </a:prstGeom>
          <a:noFill/>
          <a:ln/>
        </p:spPr>
        <p:txBody>
          <a:bodyPr wrap="square" rtlCol="0" anchor="ctr"/>
          <a:lstStyle/>
          <a:p>
            <a:pPr indent="0" marL="0">
              <a:lnSpc>
                <a:spcPts val="1600"/>
              </a:lnSpc>
              <a:buNone/>
            </a:pPr>
            <a:r>
              <a:rPr lang="en-US" sz="1000" b="1" dirty="0">
                <a:solidFill>
                  <a:srgbClr val="FFFFFF"/>
                </a:solidFill>
                <a:latin typeface="Arial" pitchFamily="34" charset="0"/>
                <a:ea typeface="Arial" pitchFamily="34" charset="-122"/>
                <a:cs typeface="Arial" pitchFamily="34" charset="-120"/>
              </a:rPr>
              <a:t>• Standardisasi Satu Pintu:
</a:t>
            </a:r>
            <a:pPr indent="0" marL="0">
              <a:lnSpc>
                <a:spcPts val="1600"/>
              </a:lnSpc>
              <a:buNone/>
            </a:pPr>
            <a:r>
              <a:rPr lang="en-US" sz="1000" dirty="0">
                <a:solidFill>
                  <a:srgbClr val="94A3B8"/>
                </a:solidFill>
                <a:latin typeface="Arial" pitchFamily="34" charset="0"/>
                <a:ea typeface="Arial" pitchFamily="34" charset="-122"/>
                <a:cs typeface="Arial" pitchFamily="34" charset="-120"/>
              </a:rPr>
              <a:t>  Melayani pendaftaran ASN dari 20 SKPD Kota Cirebon secara terpadu tanpa formulir manual.
</a:t>
            </a:r>
            <a:pPr indent="0" marL="0">
              <a:lnSpc>
                <a:spcPts val="1600"/>
              </a:lnSpc>
              <a:buNone/>
            </a:pPr>
            <a:r>
              <a:rPr lang="en-US" sz="1000" b="1" dirty="0">
                <a:solidFill>
                  <a:srgbClr val="FFFFFF"/>
                </a:solidFill>
                <a:latin typeface="Arial" pitchFamily="34" charset="0"/>
                <a:ea typeface="Arial" pitchFamily="34" charset="-122"/>
                <a:cs typeface="Arial" pitchFamily="34" charset="-120"/>
              </a:rPr>
              <a:t>• Efisiensi Rekapitulasi:
</a:t>
            </a:r>
            <a:pPr indent="0" marL="0">
              <a:lnSpc>
                <a:spcPts val="1600"/>
              </a:lnSpc>
              <a:buNone/>
            </a:pPr>
            <a:r>
              <a:rPr lang="en-US" sz="1000" dirty="0">
                <a:solidFill>
                  <a:srgbClr val="94A3B8"/>
                </a:solidFill>
                <a:latin typeface="Arial" pitchFamily="34" charset="0"/>
                <a:ea typeface="Arial" pitchFamily="34" charset="-122"/>
                <a:cs typeface="Arial" pitchFamily="34" charset="-120"/>
              </a:rPr>
              <a:t>  Otomatisasi penetapan email dinas dan pencatatan nomor sertifikat BSrE secara deterministik.
</a:t>
            </a:r>
            <a:pPr indent="0" marL="0">
              <a:lnSpc>
                <a:spcPts val="1600"/>
              </a:lnSpc>
              <a:buNone/>
            </a:pPr>
            <a:r>
              <a:rPr lang="en-US" sz="1000" b="1" dirty="0">
                <a:solidFill>
                  <a:srgbClr val="FFFFFF"/>
                </a:solidFill>
                <a:latin typeface="Arial" pitchFamily="34" charset="0"/>
                <a:ea typeface="Arial" pitchFamily="34" charset="-122"/>
                <a:cs typeface="Arial" pitchFamily="34" charset="-120"/>
              </a:rPr>
              <a:t>• Lifecycle Management Proaktif:
</a:t>
            </a:r>
            <a:pPr indent="0" marL="0">
              <a:lnSpc>
                <a:spcPts val="1600"/>
              </a:lnSpc>
              <a:buNone/>
            </a:pPr>
            <a:r>
              <a:rPr lang="en-US" sz="1000" dirty="0">
                <a:solidFill>
                  <a:srgbClr val="94A3B8"/>
                </a:solidFill>
                <a:latin typeface="Arial" pitchFamily="34" charset="0"/>
                <a:ea typeface="Arial" pitchFamily="34" charset="-122"/>
                <a:cs typeface="Arial" pitchFamily="34" charset="-120"/>
              </a:rPr>
              <a:t>  Monitoring masa aktif sertifikat harian dengan zona peringatan dini H-3 Warning Zone.
</a:t>
            </a:r>
            <a:pPr indent="0" marL="0">
              <a:lnSpc>
                <a:spcPts val="1600"/>
              </a:lnSpc>
              <a:buNone/>
            </a:pPr>
            <a:r>
              <a:rPr lang="en-US" sz="1000" b="1" dirty="0">
                <a:solidFill>
                  <a:srgbClr val="FFFFFF"/>
                </a:solidFill>
                <a:latin typeface="Arial" pitchFamily="34" charset="0"/>
                <a:ea typeface="Arial" pitchFamily="34" charset="-122"/>
                <a:cs typeface="Arial" pitchFamily="34" charset="-120"/>
              </a:rPr>
              <a:t>• Transparansi Eksekutif:
</a:t>
            </a:r>
            <a:pPr indent="0" marL="0">
              <a:lnSpc>
                <a:spcPts val="1600"/>
              </a:lnSpc>
              <a:buNone/>
            </a:pPr>
            <a:r>
              <a:rPr lang="en-US" sz="1000" dirty="0">
                <a:solidFill>
                  <a:srgbClr val="94A3B8"/>
                </a:solidFill>
                <a:latin typeface="Arial" pitchFamily="34" charset="0"/>
                <a:ea typeface="Arial" pitchFamily="34" charset="-122"/>
                <a:cs typeface="Arial" pitchFamily="34" charset="-120"/>
              </a:rPr>
              <a:t>  Dashboard analitik real-time sub-milidetik untuk pimpinan Diskominfo.</a:t>
            </a:r>
            <a:endParaRPr lang="en-US" sz="1000" dirty="0"/>
          </a:p>
        </p:txBody>
      </p:sp>
      <p:sp>
        <p:nvSpPr>
          <p:cNvPr id="9" name="Shape 7"/>
          <p:cNvSpPr/>
          <p:nvPr/>
        </p:nvSpPr>
        <p:spPr>
          <a:xfrm>
            <a:off x="6217920" y="1463040"/>
            <a:ext cx="2468880" cy="2286000"/>
          </a:xfrm>
          <a:prstGeom prst="rect">
            <a:avLst/>
          </a:prstGeom>
          <a:solidFill>
            <a:srgbClr val="1E293B"/>
          </a:solidFill>
          <a:ln w="19050">
            <a:solidFill>
              <a:srgbClr val="10B981"/>
            </a:solidFill>
            <a:prstDash val="solid"/>
          </a:ln>
        </p:spPr>
      </p:sp>
      <p:sp>
        <p:nvSpPr>
          <p:cNvPr id="10" name="Text 8"/>
          <p:cNvSpPr/>
          <p:nvPr/>
        </p:nvSpPr>
        <p:spPr>
          <a:xfrm>
            <a:off x="6309360" y="1828800"/>
            <a:ext cx="2286000" cy="731520"/>
          </a:xfrm>
          <a:prstGeom prst="rect">
            <a:avLst/>
          </a:prstGeom>
          <a:noFill/>
          <a:ln/>
        </p:spPr>
        <p:txBody>
          <a:bodyPr wrap="square" rtlCol="0" anchor="ctr"/>
          <a:lstStyle/>
          <a:p>
            <a:pPr algn="ctr" indent="0" marL="0">
              <a:buNone/>
            </a:pPr>
            <a:r>
              <a:rPr lang="en-US" sz="2400" b="1" dirty="0">
                <a:solidFill>
                  <a:srgbClr val="10B981"/>
                </a:solidFill>
                <a:latin typeface="Courier New" pitchFamily="34" charset="0"/>
                <a:ea typeface="Courier New" pitchFamily="34" charset="-122"/>
                <a:cs typeface="Courier New" pitchFamily="34" charset="-120"/>
              </a:rPr>
              <a:t>≥ 99.9%</a:t>
            </a:r>
            <a:endParaRPr lang="en-US" sz="2400" dirty="0"/>
          </a:p>
        </p:txBody>
      </p:sp>
      <p:sp>
        <p:nvSpPr>
          <p:cNvPr id="11" name="Text 9"/>
          <p:cNvSpPr/>
          <p:nvPr/>
        </p:nvSpPr>
        <p:spPr>
          <a:xfrm>
            <a:off x="6309360" y="2651760"/>
            <a:ext cx="2286000" cy="731520"/>
          </a:xfrm>
          <a:prstGeom prst="rect">
            <a:avLst/>
          </a:prstGeom>
          <a:noFill/>
          <a:ln/>
        </p:spPr>
        <p:txBody>
          <a:bodyPr wrap="square" rtlCol="0" anchor="ctr"/>
          <a:lstStyle/>
          <a:p>
            <a:pPr algn="ctr" indent="0" marL="0">
              <a:buNone/>
            </a:pPr>
            <a:r>
              <a:rPr lang="en-US" sz="1000" b="1" dirty="0">
                <a:solidFill>
                  <a:srgbClr val="94A3B8"/>
                </a:solidFill>
                <a:latin typeface="Arial" pitchFamily="34" charset="0"/>
                <a:ea typeface="Arial" pitchFamily="34" charset="-122"/>
                <a:cs typeface="Arial" pitchFamily="34" charset="-120"/>
              </a:rPr>
              <a:t>System Uptime SLA</a:t>
            </a:r>
            <a:endParaRPr lang="en-US" sz="1000" dirty="0"/>
          </a:p>
        </p:txBody>
      </p:sp>
      <p:sp>
        <p:nvSpPr>
          <p:cNvPr id="12" name="Shape 10"/>
          <p:cNvSpPr/>
          <p:nvPr/>
        </p:nvSpPr>
        <p:spPr>
          <a:xfrm>
            <a:off x="8869680" y="1463040"/>
            <a:ext cx="2468880" cy="2286000"/>
          </a:xfrm>
          <a:prstGeom prst="rect">
            <a:avLst/>
          </a:prstGeom>
          <a:solidFill>
            <a:srgbClr val="1E293B"/>
          </a:solidFill>
          <a:ln w="19050">
            <a:solidFill>
              <a:srgbClr val="06B6D4"/>
            </a:solidFill>
            <a:prstDash val="solid"/>
          </a:ln>
        </p:spPr>
      </p:sp>
      <p:sp>
        <p:nvSpPr>
          <p:cNvPr id="13" name="Text 11"/>
          <p:cNvSpPr/>
          <p:nvPr/>
        </p:nvSpPr>
        <p:spPr>
          <a:xfrm>
            <a:off x="8961120" y="1828800"/>
            <a:ext cx="2286000" cy="731520"/>
          </a:xfrm>
          <a:prstGeom prst="rect">
            <a:avLst/>
          </a:prstGeom>
          <a:noFill/>
          <a:ln/>
        </p:spPr>
        <p:txBody>
          <a:bodyPr wrap="square" rtlCol="0" anchor="ctr"/>
          <a:lstStyle/>
          <a:p>
            <a:pPr algn="ctr" indent="0" marL="0">
              <a:buNone/>
            </a:pPr>
            <a:r>
              <a:rPr lang="en-US" sz="2400" b="1" dirty="0">
                <a:solidFill>
                  <a:srgbClr val="06B6D4"/>
                </a:solidFill>
                <a:latin typeface="Courier New" pitchFamily="34" charset="0"/>
                <a:ea typeface="Courier New" pitchFamily="34" charset="-122"/>
                <a:cs typeface="Courier New" pitchFamily="34" charset="-120"/>
              </a:rPr>
              <a:t>&lt; 2.0 Detik</a:t>
            </a:r>
            <a:endParaRPr lang="en-US" sz="2400" dirty="0"/>
          </a:p>
        </p:txBody>
      </p:sp>
      <p:sp>
        <p:nvSpPr>
          <p:cNvPr id="14" name="Text 12"/>
          <p:cNvSpPr/>
          <p:nvPr/>
        </p:nvSpPr>
        <p:spPr>
          <a:xfrm>
            <a:off x="8961120" y="2651760"/>
            <a:ext cx="2286000" cy="731520"/>
          </a:xfrm>
          <a:prstGeom prst="rect">
            <a:avLst/>
          </a:prstGeom>
          <a:noFill/>
          <a:ln/>
        </p:spPr>
        <p:txBody>
          <a:bodyPr wrap="square" rtlCol="0" anchor="ctr"/>
          <a:lstStyle/>
          <a:p>
            <a:pPr algn="ctr" indent="0" marL="0">
              <a:buNone/>
            </a:pPr>
            <a:r>
              <a:rPr lang="en-US" sz="1000" b="1" dirty="0">
                <a:solidFill>
                  <a:srgbClr val="94A3B8"/>
                </a:solidFill>
                <a:latin typeface="Arial" pitchFamily="34" charset="0"/>
                <a:ea typeface="Arial" pitchFamily="34" charset="-122"/>
                <a:cs typeface="Arial" pitchFamily="34" charset="-120"/>
              </a:rPr>
              <a:t>Page Load Jaringan 3G</a:t>
            </a:r>
            <a:endParaRPr lang="en-US" sz="1000" dirty="0"/>
          </a:p>
        </p:txBody>
      </p:sp>
      <p:sp>
        <p:nvSpPr>
          <p:cNvPr id="15" name="Shape 13"/>
          <p:cNvSpPr/>
          <p:nvPr/>
        </p:nvSpPr>
        <p:spPr>
          <a:xfrm>
            <a:off x="6217920" y="3931920"/>
            <a:ext cx="2468880" cy="2286000"/>
          </a:xfrm>
          <a:prstGeom prst="rect">
            <a:avLst/>
          </a:prstGeom>
          <a:solidFill>
            <a:srgbClr val="1E293B"/>
          </a:solidFill>
          <a:ln w="19050">
            <a:solidFill>
              <a:srgbClr val="F59E0B"/>
            </a:solidFill>
            <a:prstDash val="solid"/>
          </a:ln>
        </p:spPr>
      </p:sp>
      <p:sp>
        <p:nvSpPr>
          <p:cNvPr id="16" name="Text 14"/>
          <p:cNvSpPr/>
          <p:nvPr/>
        </p:nvSpPr>
        <p:spPr>
          <a:xfrm>
            <a:off x="6309360" y="4297680"/>
            <a:ext cx="2286000" cy="731520"/>
          </a:xfrm>
          <a:prstGeom prst="rect">
            <a:avLst/>
          </a:prstGeom>
          <a:noFill/>
          <a:ln/>
        </p:spPr>
        <p:txBody>
          <a:bodyPr wrap="square" rtlCol="0" anchor="ctr"/>
          <a:lstStyle/>
          <a:p>
            <a:pPr algn="ctr" indent="0" marL="0">
              <a:buNone/>
            </a:pPr>
            <a:r>
              <a:rPr lang="en-US" sz="2400" b="1" dirty="0">
                <a:solidFill>
                  <a:srgbClr val="F59E0B"/>
                </a:solidFill>
                <a:latin typeface="Courier New" pitchFamily="34" charset="0"/>
                <a:ea typeface="Courier New" pitchFamily="34" charset="-122"/>
                <a:cs typeface="Courier New" pitchFamily="34" charset="-120"/>
              </a:rPr>
              <a:t>&lt; 20 MB</a:t>
            </a:r>
            <a:endParaRPr lang="en-US" sz="2400" dirty="0"/>
          </a:p>
        </p:txBody>
      </p:sp>
      <p:sp>
        <p:nvSpPr>
          <p:cNvPr id="17" name="Text 15"/>
          <p:cNvSpPr/>
          <p:nvPr/>
        </p:nvSpPr>
        <p:spPr>
          <a:xfrm>
            <a:off x="6309360" y="5120640"/>
            <a:ext cx="2286000" cy="731520"/>
          </a:xfrm>
          <a:prstGeom prst="rect">
            <a:avLst/>
          </a:prstGeom>
          <a:noFill/>
          <a:ln/>
        </p:spPr>
        <p:txBody>
          <a:bodyPr wrap="square" rtlCol="0" anchor="ctr"/>
          <a:lstStyle/>
          <a:p>
            <a:pPr algn="ctr" indent="0" marL="0">
              <a:buNone/>
            </a:pPr>
            <a:r>
              <a:rPr lang="en-US" sz="1000" b="1" dirty="0">
                <a:solidFill>
                  <a:srgbClr val="94A3B8"/>
                </a:solidFill>
                <a:latin typeface="Arial" pitchFamily="34" charset="0"/>
                <a:ea typeface="Arial" pitchFamily="34" charset="-122"/>
                <a:cs typeface="Arial" pitchFamily="34" charset="-120"/>
              </a:rPr>
              <a:t>RAM PHP Saat Ekspor CSV</a:t>
            </a:r>
            <a:endParaRPr lang="en-US" sz="1000" dirty="0"/>
          </a:p>
        </p:txBody>
      </p:sp>
      <p:sp>
        <p:nvSpPr>
          <p:cNvPr id="18" name="Shape 16"/>
          <p:cNvSpPr/>
          <p:nvPr/>
        </p:nvSpPr>
        <p:spPr>
          <a:xfrm>
            <a:off x="8869680" y="3931920"/>
            <a:ext cx="2468880" cy="2286000"/>
          </a:xfrm>
          <a:prstGeom prst="rect">
            <a:avLst/>
          </a:prstGeom>
          <a:solidFill>
            <a:srgbClr val="1E293B"/>
          </a:solidFill>
          <a:ln w="19050">
            <a:solidFill>
              <a:srgbClr val="0284C7"/>
            </a:solidFill>
            <a:prstDash val="solid"/>
          </a:ln>
        </p:spPr>
      </p:sp>
      <p:sp>
        <p:nvSpPr>
          <p:cNvPr id="19" name="Text 17"/>
          <p:cNvSpPr/>
          <p:nvPr/>
        </p:nvSpPr>
        <p:spPr>
          <a:xfrm>
            <a:off x="8961120" y="4297680"/>
            <a:ext cx="2286000" cy="731520"/>
          </a:xfrm>
          <a:prstGeom prst="rect">
            <a:avLst/>
          </a:prstGeom>
          <a:noFill/>
          <a:ln/>
        </p:spPr>
        <p:txBody>
          <a:bodyPr wrap="square" rtlCol="0" anchor="ctr"/>
          <a:lstStyle/>
          <a:p>
            <a:pPr algn="ctr" indent="0" marL="0">
              <a:buNone/>
            </a:pPr>
            <a:r>
              <a:rPr lang="en-US" sz="2400" b="1" dirty="0">
                <a:solidFill>
                  <a:srgbClr val="0284C7"/>
                </a:solidFill>
                <a:latin typeface="Courier New" pitchFamily="34" charset="0"/>
                <a:ea typeface="Courier New" pitchFamily="34" charset="-122"/>
                <a:cs typeface="Courier New" pitchFamily="34" charset="-120"/>
              </a:rPr>
              <a:t>&lt; 25 ms</a:t>
            </a:r>
            <a:endParaRPr lang="en-US" sz="2400" dirty="0"/>
          </a:p>
        </p:txBody>
      </p:sp>
      <p:sp>
        <p:nvSpPr>
          <p:cNvPr id="20" name="Text 18"/>
          <p:cNvSpPr/>
          <p:nvPr/>
        </p:nvSpPr>
        <p:spPr>
          <a:xfrm>
            <a:off x="8961120" y="5120640"/>
            <a:ext cx="2286000" cy="731520"/>
          </a:xfrm>
          <a:prstGeom prst="rect">
            <a:avLst/>
          </a:prstGeom>
          <a:noFill/>
          <a:ln/>
        </p:spPr>
        <p:txBody>
          <a:bodyPr wrap="square" rtlCol="0" anchor="ctr"/>
          <a:lstStyle/>
          <a:p>
            <a:pPr algn="ctr" indent="0" marL="0">
              <a:buNone/>
            </a:pPr>
            <a:r>
              <a:rPr lang="en-US" sz="1000" b="1" dirty="0">
                <a:solidFill>
                  <a:srgbClr val="94A3B8"/>
                </a:solidFill>
                <a:latin typeface="Arial" pitchFamily="34" charset="0"/>
                <a:ea typeface="Arial" pitchFamily="34" charset="-122"/>
                <a:cs typeface="Arial" pitchFamily="34" charset="-120"/>
              </a:rPr>
              <a:t>Latensi Query Dashboard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04. ARSITEKTUR TEKNOLOGI</a:t>
            </a:r>
            <a:endParaRPr lang="en-US" sz="1000" dirty="0"/>
          </a:p>
        </p:txBody>
      </p:sp>
      <p:sp>
        <p:nvSpPr>
          <p:cNvPr id="3" name="Text 1"/>
          <p:cNvSpPr/>
          <p:nvPr/>
        </p:nvSpPr>
        <p:spPr>
          <a:xfrm>
            <a:off x="731520" y="594360"/>
            <a:ext cx="10515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Stack Teknologi Enterprise Skala Nasional</a:t>
            </a:r>
            <a:endParaRPr lang="en-US" sz="2000" dirty="0"/>
          </a:p>
        </p:txBody>
      </p:sp>
      <p:sp>
        <p:nvSpPr>
          <p:cNvPr id="4" name="Shape 2"/>
          <p:cNvSpPr/>
          <p:nvPr/>
        </p:nvSpPr>
        <p:spPr>
          <a:xfrm>
            <a:off x="731520" y="1143000"/>
            <a:ext cx="10698480" cy="0"/>
          </a:xfrm>
          <a:prstGeom prst="line">
            <a:avLst/>
          </a:prstGeom>
          <a:noFill/>
          <a:ln w="12700">
            <a:solidFill>
              <a:srgbClr val="334155"/>
            </a:solidFill>
            <a:prstDash val="solid"/>
          </a:ln>
        </p:spPr>
      </p:sp>
      <p:sp>
        <p:nvSpPr>
          <p:cNvPr id="5" name="Text 3"/>
          <p:cNvSpPr/>
          <p:nvPr/>
        </p:nvSpPr>
        <p:spPr>
          <a:xfrm>
            <a:off x="731520" y="6492240"/>
            <a:ext cx="9144000"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DISKOMINFO / BIDANG PERSANDIAN KOTA CIREBON • SISTEM MONITORING TTE V4.1</a:t>
            </a:r>
            <a:endParaRPr lang="en-US" sz="900" dirty="0"/>
          </a:p>
        </p:txBody>
      </p:sp>
      <p:sp>
        <p:nvSpPr>
          <p:cNvPr id="6" name="Shape 4"/>
          <p:cNvSpPr/>
          <p:nvPr/>
        </p:nvSpPr>
        <p:spPr>
          <a:xfrm>
            <a:off x="731520" y="1463040"/>
            <a:ext cx="2468880" cy="3474720"/>
          </a:xfrm>
          <a:prstGeom prst="rect">
            <a:avLst/>
          </a:prstGeom>
          <a:solidFill>
            <a:srgbClr val="1E293B"/>
          </a:solidFill>
          <a:ln w="19050">
            <a:solidFill>
              <a:srgbClr val="06B6D4"/>
            </a:solidFill>
            <a:prstDash val="solid"/>
          </a:ln>
        </p:spPr>
      </p:sp>
      <p:sp>
        <p:nvSpPr>
          <p:cNvPr id="7" name="Text 5"/>
          <p:cNvSpPr/>
          <p:nvPr/>
        </p:nvSpPr>
        <p:spPr>
          <a:xfrm>
            <a:off x="868680" y="1645920"/>
            <a:ext cx="219456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Backend Core</a:t>
            </a:r>
            <a:endParaRPr lang="en-US" sz="1200" dirty="0"/>
          </a:p>
        </p:txBody>
      </p:sp>
      <p:sp>
        <p:nvSpPr>
          <p:cNvPr id="8" name="Text 6"/>
          <p:cNvSpPr/>
          <p:nvPr/>
        </p:nvSpPr>
        <p:spPr>
          <a:xfrm>
            <a:off x="868680" y="1965960"/>
            <a:ext cx="2194560" cy="36576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Laravel 13 + PHP 8.3 FPM</a:t>
            </a:r>
            <a:endParaRPr lang="en-US" sz="1000" dirty="0"/>
          </a:p>
        </p:txBody>
      </p:sp>
      <p:sp>
        <p:nvSpPr>
          <p:cNvPr id="9" name="Text 7"/>
          <p:cNvSpPr/>
          <p:nvPr/>
        </p:nvSpPr>
        <p:spPr>
          <a:xfrm>
            <a:off x="868680" y="2377440"/>
            <a:ext cx="2194560" cy="2377440"/>
          </a:xfrm>
          <a:prstGeom prst="rect">
            <a:avLst/>
          </a:prstGeom>
          <a:noFill/>
          <a:ln/>
        </p:spPr>
        <p:txBody>
          <a:bodyPr wrap="square" rtlCol="0" anchor="ctr"/>
          <a:lstStyle/>
          <a:p>
            <a:pPr indent="0" marL="0">
              <a:lnSpc>
                <a:spcPts val="1400"/>
              </a:lnSpc>
              <a:buNone/>
            </a:pPr>
            <a:r>
              <a:rPr lang="en-US" sz="900" dirty="0">
                <a:solidFill>
                  <a:srgbClr val="94A3B8"/>
                </a:solidFill>
                <a:latin typeface="Arial" pitchFamily="34" charset="0"/>
                <a:ea typeface="Arial" pitchFamily="34" charset="-122"/>
                <a:cs typeface="Arial" pitchFamily="34" charset="-120"/>
              </a:rPr>
              <a:t>• OPcache JIT Optimization</a:t>
            </a:r>
            <a:endParaRPr lang="en-US" sz="900" dirty="0"/>
          </a:p>
          <a:p>
            <a:pPr indent="0" marL="0">
              <a:lnSpc>
                <a:spcPts val="1400"/>
              </a:lnSpc>
              <a:buNone/>
            </a:pPr>
            <a:r>
              <a:rPr lang="en-US" sz="900" dirty="0">
                <a:solidFill>
                  <a:srgbClr val="94A3B8"/>
                </a:solidFill>
                <a:latin typeface="Arial" pitchFamily="34" charset="0"/>
                <a:ea typeface="Arial" pitchFamily="34" charset="-122"/>
                <a:cs typeface="Arial" pitchFamily="34" charset="-120"/>
              </a:rPr>
              <a:t>• Clean Domain Architecture</a:t>
            </a:r>
            <a:endParaRPr lang="en-US" sz="900" dirty="0"/>
          </a:p>
          <a:p>
            <a:pPr indent="0" marL="0">
              <a:lnSpc>
                <a:spcPts val="1400"/>
              </a:lnSpc>
              <a:buNone/>
            </a:pPr>
            <a:r>
              <a:rPr lang="en-US" sz="900" dirty="0">
                <a:solidFill>
                  <a:srgbClr val="94A3B8"/>
                </a:solidFill>
                <a:latin typeface="Arial" pitchFamily="34" charset="0"/>
                <a:ea typeface="Arial" pitchFamily="34" charset="-122"/>
                <a:cs typeface="Arial" pitchFamily="34" charset="-120"/>
              </a:rPr>
              <a:t>• Action, Observer &amp; Policy pattern</a:t>
            </a:r>
            <a:endParaRPr lang="en-US" sz="900" dirty="0"/>
          </a:p>
          <a:p>
            <a:pPr indent="0" marL="0">
              <a:lnSpc>
                <a:spcPts val="1400"/>
              </a:lnSpc>
              <a:buNone/>
            </a:pPr>
            <a:r>
              <a:rPr lang="en-US" sz="900" dirty="0">
                <a:solidFill>
                  <a:srgbClr val="94A3B8"/>
                </a:solidFill>
                <a:latin typeface="Arial" pitchFamily="34" charset="0"/>
                <a:ea typeface="Arial" pitchFamily="34" charset="-122"/>
                <a:cs typeface="Arial" pitchFamily="34" charset="-120"/>
              </a:rPr>
              <a:t>• StreamedResponse memory safe</a:t>
            </a:r>
            <a:endParaRPr lang="en-US" sz="900" dirty="0"/>
          </a:p>
        </p:txBody>
      </p:sp>
      <p:sp>
        <p:nvSpPr>
          <p:cNvPr id="10" name="Shape 8"/>
          <p:cNvSpPr/>
          <p:nvPr/>
        </p:nvSpPr>
        <p:spPr>
          <a:xfrm>
            <a:off x="3474720" y="1463040"/>
            <a:ext cx="2468880" cy="3474720"/>
          </a:xfrm>
          <a:prstGeom prst="rect">
            <a:avLst/>
          </a:prstGeom>
          <a:solidFill>
            <a:srgbClr val="1E293B"/>
          </a:solidFill>
          <a:ln w="19050">
            <a:solidFill>
              <a:srgbClr val="10B981"/>
            </a:solidFill>
            <a:prstDash val="solid"/>
          </a:ln>
        </p:spPr>
      </p:sp>
      <p:sp>
        <p:nvSpPr>
          <p:cNvPr id="11" name="Text 9"/>
          <p:cNvSpPr/>
          <p:nvPr/>
        </p:nvSpPr>
        <p:spPr>
          <a:xfrm>
            <a:off x="3611880" y="1645920"/>
            <a:ext cx="219456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Database Engine</a:t>
            </a:r>
            <a:endParaRPr lang="en-US" sz="1200" dirty="0"/>
          </a:p>
        </p:txBody>
      </p:sp>
      <p:sp>
        <p:nvSpPr>
          <p:cNvPr id="12" name="Text 10"/>
          <p:cNvSpPr/>
          <p:nvPr/>
        </p:nvSpPr>
        <p:spPr>
          <a:xfrm>
            <a:off x="3611880" y="1965960"/>
            <a:ext cx="2194560" cy="365760"/>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PostgreSQL 16 Alpine</a:t>
            </a:r>
            <a:endParaRPr lang="en-US" sz="1000" dirty="0"/>
          </a:p>
        </p:txBody>
      </p:sp>
      <p:sp>
        <p:nvSpPr>
          <p:cNvPr id="13" name="Text 11"/>
          <p:cNvSpPr/>
          <p:nvPr/>
        </p:nvSpPr>
        <p:spPr>
          <a:xfrm>
            <a:off x="3611880" y="2377440"/>
            <a:ext cx="2194560" cy="2377440"/>
          </a:xfrm>
          <a:prstGeom prst="rect">
            <a:avLst/>
          </a:prstGeom>
          <a:noFill/>
          <a:ln/>
        </p:spPr>
        <p:txBody>
          <a:bodyPr wrap="square" rtlCol="0" anchor="ctr"/>
          <a:lstStyle/>
          <a:p>
            <a:pPr indent="0" marL="0">
              <a:lnSpc>
                <a:spcPts val="1400"/>
              </a:lnSpc>
              <a:buNone/>
            </a:pPr>
            <a:r>
              <a:rPr lang="en-US" sz="900" dirty="0">
                <a:solidFill>
                  <a:srgbClr val="94A3B8"/>
                </a:solidFill>
                <a:latin typeface="Arial" pitchFamily="34" charset="0"/>
                <a:ea typeface="Arial" pitchFamily="34" charset="-122"/>
                <a:cs typeface="Arial" pitchFamily="34" charset="-120"/>
              </a:rPr>
              <a:t>• Native Range Partitioning bulanan</a:t>
            </a:r>
            <a:endParaRPr lang="en-US" sz="900" dirty="0"/>
          </a:p>
          <a:p>
            <a:pPr indent="0" marL="0">
              <a:lnSpc>
                <a:spcPts val="1400"/>
              </a:lnSpc>
              <a:buNone/>
            </a:pPr>
            <a:r>
              <a:rPr lang="en-US" sz="900" dirty="0">
                <a:solidFill>
                  <a:srgbClr val="94A3B8"/>
                </a:solidFill>
                <a:latin typeface="Arial" pitchFamily="34" charset="0"/>
                <a:ea typeface="Arial" pitchFamily="34" charset="-122"/>
                <a:cs typeface="Arial" pitchFamily="34" charset="-120"/>
              </a:rPr>
              <a:t>• Partial Unique Indexing</a:t>
            </a:r>
            <a:endParaRPr lang="en-US" sz="900" dirty="0"/>
          </a:p>
          <a:p>
            <a:pPr indent="0" marL="0">
              <a:lnSpc>
                <a:spcPts val="1400"/>
              </a:lnSpc>
              <a:buNone/>
            </a:pPr>
            <a:r>
              <a:rPr lang="en-US" sz="900" dirty="0">
                <a:solidFill>
                  <a:srgbClr val="94A3B8"/>
                </a:solidFill>
                <a:latin typeface="Arial" pitchFamily="34" charset="0"/>
                <a:ea typeface="Arial" pitchFamily="34" charset="-122"/>
                <a:cs typeface="Arial" pitchFamily="34" charset="-120"/>
              </a:rPr>
              <a:t>• Kolom JSONB + GIN Indexing</a:t>
            </a:r>
            <a:endParaRPr lang="en-US" sz="900" dirty="0"/>
          </a:p>
          <a:p>
            <a:pPr indent="0" marL="0">
              <a:lnSpc>
                <a:spcPts val="1400"/>
              </a:lnSpc>
              <a:buNone/>
            </a:pPr>
            <a:r>
              <a:rPr lang="en-US" sz="900" dirty="0">
                <a:solidFill>
                  <a:srgbClr val="94A3B8"/>
                </a:solidFill>
                <a:latin typeface="Arial" pitchFamily="34" charset="0"/>
                <a:ea typeface="Arial" pitchFamily="34" charset="-122"/>
                <a:cs typeface="Arial" pitchFamily="34" charset="-120"/>
              </a:rPr>
              <a:t>• BIGINT Identity Primary Key</a:t>
            </a:r>
            <a:endParaRPr lang="en-US" sz="900" dirty="0"/>
          </a:p>
        </p:txBody>
      </p:sp>
      <p:sp>
        <p:nvSpPr>
          <p:cNvPr id="14" name="Shape 12"/>
          <p:cNvSpPr/>
          <p:nvPr/>
        </p:nvSpPr>
        <p:spPr>
          <a:xfrm>
            <a:off x="6217920" y="1463040"/>
            <a:ext cx="2468880" cy="3474720"/>
          </a:xfrm>
          <a:prstGeom prst="rect">
            <a:avLst/>
          </a:prstGeom>
          <a:solidFill>
            <a:srgbClr val="1E293B"/>
          </a:solidFill>
          <a:ln w="19050">
            <a:solidFill>
              <a:srgbClr val="F59E0B"/>
            </a:solidFill>
            <a:prstDash val="solid"/>
          </a:ln>
        </p:spPr>
      </p:sp>
      <p:sp>
        <p:nvSpPr>
          <p:cNvPr id="15" name="Text 13"/>
          <p:cNvSpPr/>
          <p:nvPr/>
        </p:nvSpPr>
        <p:spPr>
          <a:xfrm>
            <a:off x="6355080" y="1645920"/>
            <a:ext cx="219456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In-Memory Buffer</a:t>
            </a:r>
            <a:endParaRPr lang="en-US" sz="1200" dirty="0"/>
          </a:p>
        </p:txBody>
      </p:sp>
      <p:sp>
        <p:nvSpPr>
          <p:cNvPr id="16" name="Text 14"/>
          <p:cNvSpPr/>
          <p:nvPr/>
        </p:nvSpPr>
        <p:spPr>
          <a:xfrm>
            <a:off x="6355080" y="1965960"/>
            <a:ext cx="2194560" cy="36576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Redis 7 Alpine</a:t>
            </a:r>
            <a:endParaRPr lang="en-US" sz="1000" dirty="0"/>
          </a:p>
        </p:txBody>
      </p:sp>
      <p:sp>
        <p:nvSpPr>
          <p:cNvPr id="17" name="Text 15"/>
          <p:cNvSpPr/>
          <p:nvPr/>
        </p:nvSpPr>
        <p:spPr>
          <a:xfrm>
            <a:off x="6355080" y="2377440"/>
            <a:ext cx="2194560" cy="2377440"/>
          </a:xfrm>
          <a:prstGeom prst="rect">
            <a:avLst/>
          </a:prstGeom>
          <a:noFill/>
          <a:ln/>
        </p:spPr>
        <p:txBody>
          <a:bodyPr wrap="square" rtlCol="0" anchor="ctr"/>
          <a:lstStyle/>
          <a:p>
            <a:pPr indent="0" marL="0">
              <a:lnSpc>
                <a:spcPts val="1400"/>
              </a:lnSpc>
              <a:buNone/>
            </a:pPr>
            <a:r>
              <a:rPr lang="en-US" sz="900" dirty="0">
                <a:solidFill>
                  <a:srgbClr val="94A3B8"/>
                </a:solidFill>
                <a:latin typeface="Arial" pitchFamily="34" charset="0"/>
                <a:ea typeface="Arial" pitchFamily="34" charset="-122"/>
                <a:cs typeface="Arial" pitchFamily="34" charset="-120"/>
              </a:rPr>
              <a:t>• In-memory cache dashboard</a:t>
            </a:r>
            <a:endParaRPr lang="en-US" sz="900" dirty="0"/>
          </a:p>
          <a:p>
            <a:pPr indent="0" marL="0">
              <a:lnSpc>
                <a:spcPts val="1400"/>
              </a:lnSpc>
              <a:buNone/>
            </a:pPr>
            <a:r>
              <a:rPr lang="en-US" sz="900" dirty="0">
                <a:solidFill>
                  <a:srgbClr val="94A3B8"/>
                </a:solidFill>
                <a:latin typeface="Arial" pitchFamily="34" charset="0"/>
                <a:ea typeface="Arial" pitchFamily="34" charset="-122"/>
                <a:cs typeface="Arial" pitchFamily="34" charset="-120"/>
              </a:rPr>
              <a:t>• Async Queue "audit-logs"</a:t>
            </a:r>
            <a:endParaRPr lang="en-US" sz="900" dirty="0"/>
          </a:p>
          <a:p>
            <a:pPr indent="0" marL="0">
              <a:lnSpc>
                <a:spcPts val="1400"/>
              </a:lnSpc>
              <a:buNone/>
            </a:pPr>
            <a:r>
              <a:rPr lang="en-US" sz="900" dirty="0">
                <a:solidFill>
                  <a:srgbClr val="94A3B8"/>
                </a:solidFill>
                <a:latin typeface="Arial" pitchFamily="34" charset="0"/>
                <a:ea typeface="Arial" pitchFamily="34" charset="-122"/>
                <a:cs typeface="Arial" pitchFamily="34" charset="-120"/>
              </a:rPr>
              <a:t>• AOF Persistence &amp; Requirepass</a:t>
            </a:r>
            <a:endParaRPr lang="en-US" sz="900" dirty="0"/>
          </a:p>
          <a:p>
            <a:pPr indent="0" marL="0">
              <a:lnSpc>
                <a:spcPts val="1400"/>
              </a:lnSpc>
              <a:buNone/>
            </a:pPr>
            <a:r>
              <a:rPr lang="en-US" sz="900" dirty="0">
                <a:solidFill>
                  <a:srgbClr val="94A3B8"/>
                </a:solidFill>
                <a:latin typeface="Arial" pitchFamily="34" charset="0"/>
                <a:ea typeface="Arial" pitchFamily="34" charset="-122"/>
                <a:cs typeface="Arial" pitchFamily="34" charset="-120"/>
              </a:rPr>
              <a:t>• Non-blocking Worker Supervisor</a:t>
            </a:r>
            <a:endParaRPr lang="en-US" sz="900" dirty="0"/>
          </a:p>
        </p:txBody>
      </p:sp>
      <p:sp>
        <p:nvSpPr>
          <p:cNvPr id="18" name="Shape 16"/>
          <p:cNvSpPr/>
          <p:nvPr/>
        </p:nvSpPr>
        <p:spPr>
          <a:xfrm>
            <a:off x="8961120" y="1463040"/>
            <a:ext cx="2468880" cy="3474720"/>
          </a:xfrm>
          <a:prstGeom prst="rect">
            <a:avLst/>
          </a:prstGeom>
          <a:solidFill>
            <a:srgbClr val="1E293B"/>
          </a:solidFill>
          <a:ln w="19050">
            <a:solidFill>
              <a:srgbClr val="0284C7"/>
            </a:solidFill>
            <a:prstDash val="solid"/>
          </a:ln>
        </p:spPr>
      </p:sp>
      <p:sp>
        <p:nvSpPr>
          <p:cNvPr id="19" name="Text 17"/>
          <p:cNvSpPr/>
          <p:nvPr/>
        </p:nvSpPr>
        <p:spPr>
          <a:xfrm>
            <a:off x="9098280" y="1645920"/>
            <a:ext cx="219456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Edge &amp; Frontend</a:t>
            </a:r>
            <a:endParaRPr lang="en-US" sz="1200" dirty="0"/>
          </a:p>
        </p:txBody>
      </p:sp>
      <p:sp>
        <p:nvSpPr>
          <p:cNvPr id="20" name="Text 18"/>
          <p:cNvSpPr/>
          <p:nvPr/>
        </p:nvSpPr>
        <p:spPr>
          <a:xfrm>
            <a:off x="9098280" y="1965960"/>
            <a:ext cx="2194560" cy="365760"/>
          </a:xfrm>
          <a:prstGeom prst="rect">
            <a:avLst/>
          </a:prstGeom>
          <a:noFill/>
          <a:ln/>
        </p:spPr>
        <p:txBody>
          <a:bodyPr wrap="square" rtlCol="0" anchor="ctr"/>
          <a:lstStyle/>
          <a:p>
            <a:pPr indent="0" marL="0">
              <a:buNone/>
            </a:pPr>
            <a:r>
              <a:rPr lang="en-US" sz="1000" b="1" dirty="0">
                <a:solidFill>
                  <a:srgbClr val="0284C7"/>
                </a:solidFill>
                <a:latin typeface="Arial" pitchFamily="34" charset="0"/>
                <a:ea typeface="Arial" pitchFamily="34" charset="-122"/>
                <a:cs typeface="Arial" pitchFamily="34" charset="-120"/>
              </a:rPr>
              <a:t>Nginx + Carbon Flat UI</a:t>
            </a:r>
            <a:endParaRPr lang="en-US" sz="1000" dirty="0"/>
          </a:p>
        </p:txBody>
      </p:sp>
      <p:sp>
        <p:nvSpPr>
          <p:cNvPr id="21" name="Text 19"/>
          <p:cNvSpPr/>
          <p:nvPr/>
        </p:nvSpPr>
        <p:spPr>
          <a:xfrm>
            <a:off x="9098280" y="2377440"/>
            <a:ext cx="2194560" cy="2377440"/>
          </a:xfrm>
          <a:prstGeom prst="rect">
            <a:avLst/>
          </a:prstGeom>
          <a:noFill/>
          <a:ln/>
        </p:spPr>
        <p:txBody>
          <a:bodyPr wrap="square" rtlCol="0" anchor="ctr"/>
          <a:lstStyle/>
          <a:p>
            <a:pPr indent="0" marL="0">
              <a:lnSpc>
                <a:spcPts val="1400"/>
              </a:lnSpc>
              <a:buNone/>
            </a:pPr>
            <a:r>
              <a:rPr lang="en-US" sz="900" dirty="0">
                <a:solidFill>
                  <a:srgbClr val="94A3B8"/>
                </a:solidFill>
                <a:latin typeface="Arial" pitchFamily="34" charset="0"/>
                <a:ea typeface="Arial" pitchFamily="34" charset="-122"/>
                <a:cs typeface="Arial" pitchFamily="34" charset="-120"/>
              </a:rPr>
              <a:t>• TLS 1.3 Strict &amp; HSTS 2 Tahun</a:t>
            </a:r>
            <a:endParaRPr lang="en-US" sz="900" dirty="0"/>
          </a:p>
          <a:p>
            <a:pPr indent="0" marL="0">
              <a:lnSpc>
                <a:spcPts val="1400"/>
              </a:lnSpc>
              <a:buNone/>
            </a:pPr>
            <a:r>
              <a:rPr lang="en-US" sz="900" dirty="0">
                <a:solidFill>
                  <a:srgbClr val="94A3B8"/>
                </a:solidFill>
                <a:latin typeface="Arial" pitchFamily="34" charset="0"/>
                <a:ea typeface="Arial" pitchFamily="34" charset="-122"/>
                <a:cs typeface="Arial" pitchFamily="34" charset="-120"/>
              </a:rPr>
              <a:t>• Rate Limiting 5r/m &amp; 30r/s</a:t>
            </a:r>
            <a:endParaRPr lang="en-US" sz="900" dirty="0"/>
          </a:p>
          <a:p>
            <a:pPr indent="0" marL="0">
              <a:lnSpc>
                <a:spcPts val="1400"/>
              </a:lnSpc>
              <a:buNone/>
            </a:pPr>
            <a:r>
              <a:rPr lang="en-US" sz="900" dirty="0">
                <a:solidFill>
                  <a:srgbClr val="94A3B8"/>
                </a:solidFill>
                <a:latin typeface="Arial" pitchFamily="34" charset="0"/>
                <a:ea typeface="Arial" pitchFamily="34" charset="-122"/>
                <a:cs typeface="Arial" pitchFamily="34" charset="-120"/>
              </a:rPr>
              <a:t>• 100% Zero External CDN lokal</a:t>
            </a:r>
            <a:endParaRPr lang="en-US" sz="900" dirty="0"/>
          </a:p>
          <a:p>
            <a:pPr indent="0" marL="0">
              <a:lnSpc>
                <a:spcPts val="1400"/>
              </a:lnSpc>
              <a:buNone/>
            </a:pPr>
            <a:r>
              <a:rPr lang="en-US" sz="900" dirty="0">
                <a:solidFill>
                  <a:srgbClr val="94A3B8"/>
                </a:solidFill>
                <a:latin typeface="Arial" pitchFamily="34" charset="0"/>
                <a:ea typeface="Arial" pitchFamily="34" charset="-122"/>
                <a:cs typeface="Arial" pitchFamily="34" charset="-120"/>
              </a:rPr>
              <a:t>• Desain Flat 0px Radius WCAG 2.1</a:t>
            </a:r>
            <a:endParaRPr lang="en-US" sz="900" dirty="0"/>
          </a:p>
        </p:txBody>
      </p:sp>
      <p:sp>
        <p:nvSpPr>
          <p:cNvPr id="22" name="Shape 20"/>
          <p:cNvSpPr/>
          <p:nvPr/>
        </p:nvSpPr>
        <p:spPr>
          <a:xfrm>
            <a:off x="731520" y="5120640"/>
            <a:ext cx="10698480" cy="1097280"/>
          </a:xfrm>
          <a:prstGeom prst="rect">
            <a:avLst/>
          </a:prstGeom>
          <a:solidFill>
            <a:srgbClr val="1E293B"/>
          </a:solidFill>
          <a:ln w="12700">
            <a:solidFill>
              <a:srgbClr val="334155"/>
            </a:solidFill>
            <a:prstDash val="solid"/>
          </a:ln>
        </p:spPr>
      </p:sp>
      <p:sp>
        <p:nvSpPr>
          <p:cNvPr id="23" name="Text 21"/>
          <p:cNvSpPr/>
          <p:nvPr/>
        </p:nvSpPr>
        <p:spPr>
          <a:xfrm>
            <a:off x="914400" y="5212080"/>
            <a:ext cx="10332720" cy="27432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Isolasi Kontainerisasi Docker Compose V2 (Enterprise Isolation):</a:t>
            </a:r>
            <a:endParaRPr lang="en-US" sz="1050" dirty="0"/>
          </a:p>
        </p:txBody>
      </p:sp>
      <p:sp>
        <p:nvSpPr>
          <p:cNvPr id="24" name="Text 22"/>
          <p:cNvSpPr/>
          <p:nvPr/>
        </p:nvSpPr>
        <p:spPr>
          <a:xfrm>
            <a:off x="914400" y="5532120"/>
            <a:ext cx="10332720" cy="457200"/>
          </a:xfrm>
          <a:prstGeom prst="rect">
            <a:avLst/>
          </a:prstGeom>
          <a:noFill/>
          <a:ln/>
        </p:spPr>
        <p:txBody>
          <a:bodyPr wrap="square" rtlCol="0" anchor="ctr"/>
          <a:lstStyle/>
          <a:p>
            <a:pPr indent="0" marL="0">
              <a:buNone/>
            </a:pPr>
            <a:r>
              <a:rPr lang="en-US" sz="900" dirty="0">
                <a:solidFill>
                  <a:srgbClr val="06B6D4"/>
                </a:solidFill>
                <a:latin typeface="Courier New" pitchFamily="34" charset="0"/>
                <a:ea typeface="Courier New" pitchFamily="34" charset="-122"/>
                <a:cs typeface="Courier New" pitchFamily="34" charset="-120"/>
              </a:rPr>
              <a:t>• Named Volumes (vendor_data, node_data, storage_data) bebas I/O lag  • Network backend (internal: true) tersembunyi dari publik  • Non-root user (1000:1000)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05. ALUR BISNIS &amp; TRANSAKSI</a:t>
            </a:r>
            <a:endParaRPr lang="en-US" sz="1000" dirty="0"/>
          </a:p>
        </p:txBody>
      </p:sp>
      <p:sp>
        <p:nvSpPr>
          <p:cNvPr id="3" name="Text 1"/>
          <p:cNvSpPr/>
          <p:nvPr/>
        </p:nvSpPr>
        <p:spPr>
          <a:xfrm>
            <a:off x="731520" y="594360"/>
            <a:ext cx="10515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Siklus Hidup Transaksi Dua Tahap (Two-Stage Verification)</a:t>
            </a:r>
            <a:endParaRPr lang="en-US" sz="2000" dirty="0"/>
          </a:p>
        </p:txBody>
      </p:sp>
      <p:sp>
        <p:nvSpPr>
          <p:cNvPr id="4" name="Shape 2"/>
          <p:cNvSpPr/>
          <p:nvPr/>
        </p:nvSpPr>
        <p:spPr>
          <a:xfrm>
            <a:off x="731520" y="1143000"/>
            <a:ext cx="10698480" cy="0"/>
          </a:xfrm>
          <a:prstGeom prst="line">
            <a:avLst/>
          </a:prstGeom>
          <a:noFill/>
          <a:ln w="12700">
            <a:solidFill>
              <a:srgbClr val="334155"/>
            </a:solidFill>
            <a:prstDash val="solid"/>
          </a:ln>
        </p:spPr>
      </p:sp>
      <p:sp>
        <p:nvSpPr>
          <p:cNvPr id="5" name="Text 3"/>
          <p:cNvSpPr/>
          <p:nvPr/>
        </p:nvSpPr>
        <p:spPr>
          <a:xfrm>
            <a:off x="731520" y="6492240"/>
            <a:ext cx="9144000"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DISKOMINFO / BIDANG PERSANDIAN KOTA CIREBON • SISTEM MONITORING TTE V4.1</a:t>
            </a:r>
            <a:endParaRPr lang="en-US" sz="900" dirty="0"/>
          </a:p>
        </p:txBody>
      </p:sp>
      <p:sp>
        <p:nvSpPr>
          <p:cNvPr id="6" name="Shape 4"/>
          <p:cNvSpPr/>
          <p:nvPr/>
        </p:nvSpPr>
        <p:spPr>
          <a:xfrm>
            <a:off x="731520" y="1463040"/>
            <a:ext cx="3383280" cy="3931920"/>
          </a:xfrm>
          <a:prstGeom prst="rect">
            <a:avLst/>
          </a:prstGeom>
          <a:solidFill>
            <a:srgbClr val="1E293B"/>
          </a:solidFill>
          <a:ln w="19050">
            <a:solidFill>
              <a:srgbClr val="06B6D4"/>
            </a:solidFill>
            <a:prstDash val="solid"/>
          </a:ln>
        </p:spPr>
      </p:sp>
      <p:sp>
        <p:nvSpPr>
          <p:cNvPr id="7" name="Text 5"/>
          <p:cNvSpPr/>
          <p:nvPr/>
        </p:nvSpPr>
        <p:spPr>
          <a:xfrm>
            <a:off x="914400" y="1645920"/>
            <a:ext cx="1371600" cy="274320"/>
          </a:xfrm>
          <a:prstGeom prst="rect">
            <a:avLst/>
          </a:prstGeom>
          <a:noFill/>
          <a:ln/>
        </p:spPr>
        <p:txBody>
          <a:bodyPr wrap="square" rtlCol="0" anchor="ctr"/>
          <a:lstStyle/>
          <a:p>
            <a:pPr indent="0" marL="0">
              <a:buNone/>
            </a:pPr>
            <a:r>
              <a:rPr lang="en-US" sz="900" b="1" dirty="0">
                <a:solidFill>
                  <a:srgbClr val="06B6D4"/>
                </a:solidFill>
                <a:latin typeface="Courier New" pitchFamily="34" charset="0"/>
                <a:ea typeface="Courier New" pitchFamily="34" charset="-122"/>
                <a:cs typeface="Courier New" pitchFamily="34" charset="-120"/>
              </a:rPr>
              <a:t>TAHAP 1</a:t>
            </a:r>
            <a:endParaRPr lang="en-US" sz="900" dirty="0"/>
          </a:p>
        </p:txBody>
      </p:sp>
      <p:sp>
        <p:nvSpPr>
          <p:cNvPr id="8" name="Text 6"/>
          <p:cNvSpPr/>
          <p:nvPr/>
        </p:nvSpPr>
        <p:spPr>
          <a:xfrm>
            <a:off x="2286000" y="1645920"/>
            <a:ext cx="164592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ASN Pemohon (Publik)</a:t>
            </a:r>
            <a:endParaRPr lang="en-US" sz="900" dirty="0"/>
          </a:p>
        </p:txBody>
      </p:sp>
      <p:sp>
        <p:nvSpPr>
          <p:cNvPr id="9" name="Text 7"/>
          <p:cNvSpPr/>
          <p:nvPr/>
        </p:nvSpPr>
        <p:spPr>
          <a:xfrm>
            <a:off x="914400" y="1965960"/>
            <a:ext cx="301752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Pendaftaran Mandiri</a:t>
            </a:r>
            <a:endParaRPr lang="en-US" sz="1300" dirty="0"/>
          </a:p>
        </p:txBody>
      </p:sp>
      <p:sp>
        <p:nvSpPr>
          <p:cNvPr id="10" name="Text 8"/>
          <p:cNvSpPr/>
          <p:nvPr/>
        </p:nvSpPr>
        <p:spPr>
          <a:xfrm>
            <a:off x="914400" y="2377440"/>
            <a:ext cx="3017520" cy="2834640"/>
          </a:xfrm>
          <a:prstGeom prst="rect">
            <a:avLst/>
          </a:prstGeom>
          <a:noFill/>
          <a:ln/>
        </p:spPr>
        <p:txBody>
          <a:bodyPr wrap="square" rtlCol="0" anchor="ctr"/>
          <a:lstStyle/>
          <a:p>
            <a:pPr indent="0" marL="0">
              <a:lnSpc>
                <a:spcPts val="1500"/>
              </a:lnSpc>
              <a:buNone/>
            </a:pPr>
            <a:r>
              <a:rPr lang="en-US" sz="950" dirty="0">
                <a:solidFill>
                  <a:srgbClr val="94A3B8"/>
                </a:solidFill>
                <a:latin typeface="Arial" pitchFamily="34" charset="0"/>
                <a:ea typeface="Arial" pitchFamily="34" charset="-122"/>
                <a:cs typeface="Arial" pitchFamily="34" charset="-120"/>
              </a:rPr>
              <a:t>• ASN input Nama, NIK, NIP, HP, SKPD, Jabatan, Golongan.</a:t>
            </a:r>
            <a:endParaRPr lang="en-US" sz="950" dirty="0"/>
          </a:p>
          <a:p>
            <a:pPr indent="0" marL="0">
              <a:lnSpc>
                <a:spcPts val="1500"/>
              </a:lnSpc>
              <a:buNone/>
            </a:pPr>
            <a:r>
              <a:rPr lang="en-US" sz="950" dirty="0">
                <a:solidFill>
                  <a:srgbClr val="94A3B8"/>
                </a:solidFill>
                <a:latin typeface="Arial" pitchFamily="34" charset="0"/>
                <a:ea typeface="Arial" pitchFamily="34" charset="-122"/>
                <a:cs typeface="Arial" pitchFamily="34" charset="-120"/>
              </a:rPr>
              <a:t>• Sistem generate usulan email dinas baku.</a:t>
            </a:r>
            <a:endParaRPr lang="en-US" sz="950" dirty="0"/>
          </a:p>
          <a:p>
            <a:pPr indent="0" marL="0">
              <a:lnSpc>
                <a:spcPts val="1500"/>
              </a:lnSpc>
              <a:buNone/>
            </a:pPr>
            <a:r>
              <a:rPr lang="en-US" sz="950" dirty="0">
                <a:solidFill>
                  <a:srgbClr val="94A3B8"/>
                </a:solidFill>
                <a:latin typeface="Arial" pitchFamily="34" charset="0"/>
                <a:ea typeface="Arial" pitchFamily="34" charset="-122"/>
                <a:cs typeface="Arial" pitchFamily="34" charset="-120"/>
              </a:rPr>
              <a:t>• AES-256-GCM enkripsi kolom NIK/NIP.</a:t>
            </a:r>
            <a:endParaRPr lang="en-US" sz="950" dirty="0"/>
          </a:p>
          <a:p>
            <a:pPr indent="0" marL="0">
              <a:lnSpc>
                <a:spcPts val="1500"/>
              </a:lnSpc>
              <a:buNone/>
            </a:pPr>
            <a:r>
              <a:rPr lang="en-US" sz="950" dirty="0">
                <a:solidFill>
                  <a:srgbClr val="94A3B8"/>
                </a:solidFill>
                <a:latin typeface="Arial" pitchFamily="34" charset="0"/>
                <a:ea typeface="Arial" pitchFamily="34" charset="-122"/>
                <a:cs typeface="Arial" pitchFamily="34" charset="-120"/>
              </a:rPr>
              <a:t>• Terbit Nomor Referensi Registrasi unik.</a:t>
            </a:r>
            <a:endParaRPr lang="en-US" sz="950" dirty="0"/>
          </a:p>
          <a:p>
            <a:pPr indent="0" marL="0">
              <a:lnSpc>
                <a:spcPts val="1500"/>
              </a:lnSpc>
              <a:buNone/>
            </a:pPr>
            <a:r>
              <a:rPr lang="en-US" sz="950" dirty="0">
                <a:solidFill>
                  <a:srgbClr val="94A3B8"/>
                </a:solidFill>
                <a:latin typeface="Arial" pitchFamily="34" charset="0"/>
                <a:ea typeface="Arial" pitchFamily="34" charset="-122"/>
                <a:cs typeface="Arial" pitchFamily="34" charset="-120"/>
              </a:rPr>
              <a:t>• Status: MENUNGGU_VERIFIKASI</a:t>
            </a:r>
            <a:endParaRPr lang="en-US" sz="950" dirty="0"/>
          </a:p>
        </p:txBody>
      </p:sp>
      <p:sp>
        <p:nvSpPr>
          <p:cNvPr id="11" name="Shape 9"/>
          <p:cNvSpPr/>
          <p:nvPr/>
        </p:nvSpPr>
        <p:spPr>
          <a:xfrm>
            <a:off x="4389120" y="1463040"/>
            <a:ext cx="3383280" cy="3931920"/>
          </a:xfrm>
          <a:prstGeom prst="rect">
            <a:avLst/>
          </a:prstGeom>
          <a:solidFill>
            <a:srgbClr val="1E293B"/>
          </a:solidFill>
          <a:ln w="19050">
            <a:solidFill>
              <a:srgbClr val="F59E0B"/>
            </a:solidFill>
            <a:prstDash val="solid"/>
          </a:ln>
        </p:spPr>
      </p:sp>
      <p:sp>
        <p:nvSpPr>
          <p:cNvPr id="12" name="Text 10"/>
          <p:cNvSpPr/>
          <p:nvPr/>
        </p:nvSpPr>
        <p:spPr>
          <a:xfrm>
            <a:off x="4572000" y="1645920"/>
            <a:ext cx="1371600" cy="274320"/>
          </a:xfrm>
          <a:prstGeom prst="rect">
            <a:avLst/>
          </a:prstGeom>
          <a:noFill/>
          <a:ln/>
        </p:spPr>
        <p:txBody>
          <a:bodyPr wrap="square" rtlCol="0" anchor="ctr"/>
          <a:lstStyle/>
          <a:p>
            <a:pPr indent="0" marL="0">
              <a:buNone/>
            </a:pPr>
            <a:r>
              <a:rPr lang="en-US" sz="900" b="1" dirty="0">
                <a:solidFill>
                  <a:srgbClr val="F59E0B"/>
                </a:solidFill>
                <a:latin typeface="Courier New" pitchFamily="34" charset="0"/>
                <a:ea typeface="Courier New" pitchFamily="34" charset="-122"/>
                <a:cs typeface="Courier New" pitchFamily="34" charset="-120"/>
              </a:rPr>
              <a:t>TAHAP 2</a:t>
            </a:r>
            <a:endParaRPr lang="en-US" sz="900" dirty="0"/>
          </a:p>
        </p:txBody>
      </p:sp>
      <p:sp>
        <p:nvSpPr>
          <p:cNvPr id="13" name="Text 11"/>
          <p:cNvSpPr/>
          <p:nvPr/>
        </p:nvSpPr>
        <p:spPr>
          <a:xfrm>
            <a:off x="5943600" y="1645920"/>
            <a:ext cx="164592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Superadmin (VPN Gateway)</a:t>
            </a:r>
            <a:endParaRPr lang="en-US" sz="900" dirty="0"/>
          </a:p>
        </p:txBody>
      </p:sp>
      <p:sp>
        <p:nvSpPr>
          <p:cNvPr id="14" name="Text 12"/>
          <p:cNvSpPr/>
          <p:nvPr/>
        </p:nvSpPr>
        <p:spPr>
          <a:xfrm>
            <a:off x="4572000" y="1965960"/>
            <a:ext cx="301752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Verifikasi &amp; Rekap Email</a:t>
            </a:r>
            <a:endParaRPr lang="en-US" sz="1300" dirty="0"/>
          </a:p>
        </p:txBody>
      </p:sp>
      <p:sp>
        <p:nvSpPr>
          <p:cNvPr id="15" name="Text 13"/>
          <p:cNvSpPr/>
          <p:nvPr/>
        </p:nvSpPr>
        <p:spPr>
          <a:xfrm>
            <a:off x="4572000" y="2377440"/>
            <a:ext cx="3017520" cy="2834640"/>
          </a:xfrm>
          <a:prstGeom prst="rect">
            <a:avLst/>
          </a:prstGeom>
          <a:noFill/>
          <a:ln/>
        </p:spPr>
        <p:txBody>
          <a:bodyPr wrap="square" rtlCol="0" anchor="ctr"/>
          <a:lstStyle/>
          <a:p>
            <a:pPr indent="0" marL="0">
              <a:lnSpc>
                <a:spcPts val="1500"/>
              </a:lnSpc>
              <a:buNone/>
            </a:pPr>
            <a:r>
              <a:rPr lang="en-US" sz="950" dirty="0">
                <a:solidFill>
                  <a:srgbClr val="94A3B8"/>
                </a:solidFill>
                <a:latin typeface="Arial" pitchFamily="34" charset="0"/>
                <a:ea typeface="Arial" pitchFamily="34" charset="-122"/>
                <a:cs typeface="Arial" pitchFamily="34" charset="-120"/>
              </a:rPr>
              <a:t>• Superadmin review data ASN via nomor ref.</a:t>
            </a:r>
            <a:endParaRPr lang="en-US" sz="950" dirty="0"/>
          </a:p>
          <a:p>
            <a:pPr indent="0" marL="0">
              <a:lnSpc>
                <a:spcPts val="1500"/>
              </a:lnSpc>
              <a:buNone/>
            </a:pPr>
            <a:r>
              <a:rPr lang="en-US" sz="950" dirty="0">
                <a:solidFill>
                  <a:srgbClr val="94A3B8"/>
                </a:solidFill>
                <a:latin typeface="Arial" pitchFamily="34" charset="0"/>
                <a:ea typeface="Arial" pitchFamily="34" charset="-122"/>
                <a:cs typeface="Arial" pitchFamily="34" charset="-120"/>
              </a:rPr>
              <a:t>• Klik "Gunakan Usulan" / edit manual.</a:t>
            </a:r>
            <a:endParaRPr lang="en-US" sz="950" dirty="0"/>
          </a:p>
          <a:p>
            <a:pPr indent="0" marL="0">
              <a:lnSpc>
                <a:spcPts val="1500"/>
              </a:lnSpc>
              <a:buNone/>
            </a:pPr>
            <a:r>
              <a:rPr lang="en-US" sz="950" dirty="0">
                <a:solidFill>
                  <a:srgbClr val="94A3B8"/>
                </a:solidFill>
                <a:latin typeface="Arial" pitchFamily="34" charset="0"/>
                <a:ea typeface="Arial" pitchFamily="34" charset="-122"/>
                <a:cs typeface="Arial" pitchFamily="34" charset="-120"/>
              </a:rPr>
              <a:t>• Klik "Kunci &amp; Rekap Email" via AJAX.</a:t>
            </a:r>
            <a:endParaRPr lang="en-US" sz="950" dirty="0"/>
          </a:p>
          <a:p>
            <a:pPr indent="0" marL="0">
              <a:lnSpc>
                <a:spcPts val="1500"/>
              </a:lnSpc>
              <a:buNone/>
            </a:pPr>
            <a:r>
              <a:rPr lang="en-US" sz="950" dirty="0">
                <a:solidFill>
                  <a:srgbClr val="94A3B8"/>
                </a:solidFill>
                <a:latin typeface="Arial" pitchFamily="34" charset="0"/>
                <a:ea typeface="Arial" pitchFamily="34" charset="-122"/>
                <a:cs typeface="Arial" pitchFamily="34" charset="-120"/>
              </a:rPr>
              <a:t>• Keputusan: Setujui (DISETUJUI) atau Tolak (DITOLAK + alasan penolakan).</a:t>
            </a:r>
            <a:endParaRPr lang="en-US" sz="950" dirty="0"/>
          </a:p>
        </p:txBody>
      </p:sp>
      <p:sp>
        <p:nvSpPr>
          <p:cNvPr id="16" name="Shape 14"/>
          <p:cNvSpPr/>
          <p:nvPr/>
        </p:nvSpPr>
        <p:spPr>
          <a:xfrm>
            <a:off x="8046720" y="1463040"/>
            <a:ext cx="3383280" cy="3931920"/>
          </a:xfrm>
          <a:prstGeom prst="rect">
            <a:avLst/>
          </a:prstGeom>
          <a:solidFill>
            <a:srgbClr val="1E293B"/>
          </a:solidFill>
          <a:ln w="19050">
            <a:solidFill>
              <a:srgbClr val="10B981"/>
            </a:solidFill>
            <a:prstDash val="solid"/>
          </a:ln>
        </p:spPr>
      </p:sp>
      <p:sp>
        <p:nvSpPr>
          <p:cNvPr id="17" name="Text 15"/>
          <p:cNvSpPr/>
          <p:nvPr/>
        </p:nvSpPr>
        <p:spPr>
          <a:xfrm>
            <a:off x="8229600" y="1645920"/>
            <a:ext cx="1371600" cy="274320"/>
          </a:xfrm>
          <a:prstGeom prst="rect">
            <a:avLst/>
          </a:prstGeom>
          <a:noFill/>
          <a:ln/>
        </p:spPr>
        <p:txBody>
          <a:bodyPr wrap="square" rtlCol="0" anchor="ctr"/>
          <a:lstStyle/>
          <a:p>
            <a:pPr indent="0" marL="0">
              <a:buNone/>
            </a:pPr>
            <a:r>
              <a:rPr lang="en-US" sz="900" b="1" dirty="0">
                <a:solidFill>
                  <a:srgbClr val="10B981"/>
                </a:solidFill>
                <a:latin typeface="Courier New" pitchFamily="34" charset="0"/>
                <a:ea typeface="Courier New" pitchFamily="34" charset="-122"/>
                <a:cs typeface="Courier New" pitchFamily="34" charset="-120"/>
              </a:rPr>
              <a:t>TAHAP 3</a:t>
            </a:r>
            <a:endParaRPr lang="en-US" sz="900" dirty="0"/>
          </a:p>
        </p:txBody>
      </p:sp>
      <p:sp>
        <p:nvSpPr>
          <p:cNvPr id="18" name="Text 16"/>
          <p:cNvSpPr/>
          <p:nvPr/>
        </p:nvSpPr>
        <p:spPr>
          <a:xfrm>
            <a:off x="9601200" y="1645920"/>
            <a:ext cx="164592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BSrE BSSN &amp; Cron Scanner</a:t>
            </a:r>
            <a:endParaRPr lang="en-US" sz="900" dirty="0"/>
          </a:p>
        </p:txBody>
      </p:sp>
      <p:sp>
        <p:nvSpPr>
          <p:cNvPr id="19" name="Text 17"/>
          <p:cNvSpPr/>
          <p:nvPr/>
        </p:nvSpPr>
        <p:spPr>
          <a:xfrm>
            <a:off x="8229600" y="1965960"/>
            <a:ext cx="301752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Penerbitan &amp; Monitoring</a:t>
            </a:r>
            <a:endParaRPr lang="en-US" sz="1300" dirty="0"/>
          </a:p>
        </p:txBody>
      </p:sp>
      <p:sp>
        <p:nvSpPr>
          <p:cNvPr id="20" name="Text 18"/>
          <p:cNvSpPr/>
          <p:nvPr/>
        </p:nvSpPr>
        <p:spPr>
          <a:xfrm>
            <a:off x="8229600" y="2377440"/>
            <a:ext cx="3017520" cy="2834640"/>
          </a:xfrm>
          <a:prstGeom prst="rect">
            <a:avLst/>
          </a:prstGeom>
          <a:noFill/>
          <a:ln/>
        </p:spPr>
        <p:txBody>
          <a:bodyPr wrap="square" rtlCol="0" anchor="ctr"/>
          <a:lstStyle/>
          <a:p>
            <a:pPr indent="0" marL="0">
              <a:lnSpc>
                <a:spcPts val="1500"/>
              </a:lnSpc>
              <a:buNone/>
            </a:pPr>
            <a:r>
              <a:rPr lang="en-US" sz="950" dirty="0">
                <a:solidFill>
                  <a:srgbClr val="94A3B8"/>
                </a:solidFill>
                <a:latin typeface="Arial" pitchFamily="34" charset="0"/>
                <a:ea typeface="Arial" pitchFamily="34" charset="-122"/>
                <a:cs typeface="Arial" pitchFamily="34" charset="-120"/>
              </a:rPr>
              <a:t>• Mailbox fisik dibuat di server email.</a:t>
            </a:r>
            <a:endParaRPr lang="en-US" sz="950" dirty="0"/>
          </a:p>
          <a:p>
            <a:pPr indent="0" marL="0">
              <a:lnSpc>
                <a:spcPts val="1500"/>
              </a:lnSpc>
              <a:buNone/>
            </a:pPr>
            <a:r>
              <a:rPr lang="en-US" sz="950" dirty="0">
                <a:solidFill>
                  <a:srgbClr val="94A3B8"/>
                </a:solidFill>
                <a:latin typeface="Arial" pitchFamily="34" charset="0"/>
                <a:ea typeface="Arial" pitchFamily="34" charset="-122"/>
                <a:cs typeface="Arial" pitchFamily="34" charset="-120"/>
              </a:rPr>
              <a:t>• Superadmin input Nomor Sertifikat BSrE.</a:t>
            </a:r>
            <a:endParaRPr lang="en-US" sz="950" dirty="0"/>
          </a:p>
          <a:p>
            <a:pPr indent="0" marL="0">
              <a:lnSpc>
                <a:spcPts val="1500"/>
              </a:lnSpc>
              <a:buNone/>
            </a:pPr>
            <a:r>
              <a:rPr lang="en-US" sz="950" dirty="0">
                <a:solidFill>
                  <a:srgbClr val="94A3B8"/>
                </a:solidFill>
                <a:latin typeface="Arial" pitchFamily="34" charset="0"/>
                <a:ea typeface="Arial" pitchFamily="34" charset="-122"/>
                <a:cs typeface="Arial" pitchFamily="34" charset="-120"/>
              </a:rPr>
              <a:t>• Sistem kalkulasi kadaluarsa (+2 Tahun).</a:t>
            </a:r>
            <a:endParaRPr lang="en-US" sz="950" dirty="0"/>
          </a:p>
          <a:p>
            <a:pPr indent="0" marL="0">
              <a:lnSpc>
                <a:spcPts val="1500"/>
              </a:lnSpc>
              <a:buNone/>
            </a:pPr>
            <a:r>
              <a:rPr lang="en-US" sz="950" dirty="0">
                <a:solidFill>
                  <a:srgbClr val="94A3B8"/>
                </a:solidFill>
                <a:latin typeface="Arial" pitchFamily="34" charset="0"/>
                <a:ea typeface="Arial" pitchFamily="34" charset="-122"/>
                <a:cs typeface="Arial" pitchFamily="34" charset="-120"/>
              </a:rPr>
              <a:t>• Status: AKTIF.</a:t>
            </a:r>
            <a:endParaRPr lang="en-US" sz="950" dirty="0"/>
          </a:p>
          <a:p>
            <a:pPr indent="0" marL="0">
              <a:lnSpc>
                <a:spcPts val="1500"/>
              </a:lnSpc>
              <a:buNone/>
            </a:pPr>
            <a:r>
              <a:rPr lang="en-US" sz="950" dirty="0">
                <a:solidFill>
                  <a:srgbClr val="94A3B8"/>
                </a:solidFill>
                <a:latin typeface="Arial" pitchFamily="34" charset="0"/>
                <a:ea typeface="Arial" pitchFamily="34" charset="-122"/>
                <a:cs typeface="Arial" pitchFamily="34" charset="-120"/>
              </a:rPr>
              <a:t>• Daily Scanner 00:01 WIB: H-3 &amp; Expired.</a:t>
            </a:r>
            <a:endParaRPr lang="en-US" sz="950" dirty="0"/>
          </a:p>
        </p:txBody>
      </p:sp>
      <p:sp>
        <p:nvSpPr>
          <p:cNvPr id="21" name="Shape 19"/>
          <p:cNvSpPr/>
          <p:nvPr/>
        </p:nvSpPr>
        <p:spPr>
          <a:xfrm>
            <a:off x="731520" y="5577840"/>
            <a:ext cx="10698480" cy="640080"/>
          </a:xfrm>
          <a:prstGeom prst="rect">
            <a:avLst/>
          </a:prstGeom>
          <a:solidFill>
            <a:srgbClr val="1E293B"/>
          </a:solidFill>
          <a:ln w="12700">
            <a:solidFill>
              <a:srgbClr val="334155"/>
            </a:solidFill>
            <a:prstDash val="solid"/>
          </a:ln>
        </p:spPr>
      </p:sp>
      <p:sp>
        <p:nvSpPr>
          <p:cNvPr id="22" name="Text 20"/>
          <p:cNvSpPr/>
          <p:nvPr/>
        </p:nvSpPr>
        <p:spPr>
          <a:xfrm>
            <a:off x="914400" y="5715000"/>
            <a:ext cx="10332720" cy="365760"/>
          </a:xfrm>
          <a:prstGeom prst="rect">
            <a:avLst/>
          </a:prstGeom>
          <a:noFill/>
          <a:ln/>
        </p:spPr>
        <p:txBody>
          <a:bodyPr wrap="square" rtlCol="0" anchor="ctr"/>
          <a:lstStyle/>
          <a:p>
            <a:pPr indent="0" marL="0">
              <a:buNone/>
            </a:pPr>
            <a:r>
              <a:rPr lang="en-US" sz="950" b="1" dirty="0">
                <a:solidFill>
                  <a:srgbClr val="06B6D4"/>
                </a:solidFill>
                <a:latin typeface="Arial" pitchFamily="34" charset="0"/>
                <a:ea typeface="Arial" pitchFamily="34" charset="-122"/>
                <a:cs typeface="Arial" pitchFamily="34" charset="-120"/>
              </a:rPr>
              <a:t>🛡️ Segregation of Duty Audit: Verifikasi Tahap 1 (verified_by) &amp; Penerbitan Tahap 2 (verified_by_tahap2) dicatat pada kolom terpisah.</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06. INOVASI FORMULIR PUBLIK</a:t>
            </a:r>
            <a:endParaRPr lang="en-US" sz="1000" dirty="0"/>
          </a:p>
        </p:txBody>
      </p:sp>
      <p:sp>
        <p:nvSpPr>
          <p:cNvPr id="3" name="Text 1"/>
          <p:cNvSpPr/>
          <p:nvPr/>
        </p:nvSpPr>
        <p:spPr>
          <a:xfrm>
            <a:off x="731520" y="594360"/>
            <a:ext cx="10515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Portal Publik Mandiri &amp; Resiliensi Low-Bandwidth</a:t>
            </a:r>
            <a:endParaRPr lang="en-US" sz="2000" dirty="0"/>
          </a:p>
        </p:txBody>
      </p:sp>
      <p:sp>
        <p:nvSpPr>
          <p:cNvPr id="4" name="Shape 2"/>
          <p:cNvSpPr/>
          <p:nvPr/>
        </p:nvSpPr>
        <p:spPr>
          <a:xfrm>
            <a:off x="731520" y="1143000"/>
            <a:ext cx="10698480" cy="0"/>
          </a:xfrm>
          <a:prstGeom prst="line">
            <a:avLst/>
          </a:prstGeom>
          <a:noFill/>
          <a:ln w="12700">
            <a:solidFill>
              <a:srgbClr val="334155"/>
            </a:solidFill>
            <a:prstDash val="solid"/>
          </a:ln>
        </p:spPr>
      </p:sp>
      <p:sp>
        <p:nvSpPr>
          <p:cNvPr id="5" name="Text 3"/>
          <p:cNvSpPr/>
          <p:nvPr/>
        </p:nvSpPr>
        <p:spPr>
          <a:xfrm>
            <a:off x="731520" y="6492240"/>
            <a:ext cx="9144000"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DISKOMINFO / BIDANG PERSANDIAN KOTA CIREBON • SISTEM MONITORING TTE V4.1</a:t>
            </a:r>
            <a:endParaRPr lang="en-US" sz="900" dirty="0"/>
          </a:p>
        </p:txBody>
      </p:sp>
      <p:sp>
        <p:nvSpPr>
          <p:cNvPr id="6" name="Shape 4"/>
          <p:cNvSpPr/>
          <p:nvPr/>
        </p:nvSpPr>
        <p:spPr>
          <a:xfrm>
            <a:off x="731520" y="1463040"/>
            <a:ext cx="5120640" cy="4754880"/>
          </a:xfrm>
          <a:prstGeom prst="rect">
            <a:avLst/>
          </a:prstGeom>
          <a:solidFill>
            <a:srgbClr val="1E293B"/>
          </a:solidFill>
          <a:ln w="19050">
            <a:solidFill>
              <a:srgbClr val="06B6D4"/>
            </a:solidFill>
            <a:prstDash val="solid"/>
          </a:ln>
        </p:spPr>
      </p:sp>
      <p:sp>
        <p:nvSpPr>
          <p:cNvPr id="7" name="Text 5"/>
          <p:cNvSpPr/>
          <p:nvPr/>
        </p:nvSpPr>
        <p:spPr>
          <a:xfrm>
            <a:off x="914400" y="1645920"/>
            <a:ext cx="475488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Desain Ramping Bebas Upload</a:t>
            </a:r>
            <a:endParaRPr lang="en-US" sz="1400" dirty="0"/>
          </a:p>
        </p:txBody>
      </p:sp>
      <p:sp>
        <p:nvSpPr>
          <p:cNvPr id="8" name="Text 6"/>
          <p:cNvSpPr/>
          <p:nvPr/>
        </p:nvSpPr>
        <p:spPr>
          <a:xfrm>
            <a:off x="914400" y="2103120"/>
            <a:ext cx="4754880" cy="3931920"/>
          </a:xfrm>
          <a:prstGeom prst="rect">
            <a:avLst/>
          </a:prstGeom>
          <a:noFill/>
          <a:ln/>
        </p:spPr>
        <p:txBody>
          <a:bodyPr wrap="square" rtlCol="0" anchor="ctr"/>
          <a:lstStyle/>
          <a:p>
            <a:pPr indent="0" marL="0">
              <a:lnSpc>
                <a:spcPts val="1600"/>
              </a:lnSpc>
              <a:buNone/>
            </a:pPr>
            <a:r>
              <a:rPr lang="en-US" sz="1000" b="1" dirty="0">
                <a:solidFill>
                  <a:srgbClr val="FFFFFF"/>
                </a:solidFill>
                <a:latin typeface="Arial" pitchFamily="34" charset="0"/>
                <a:ea typeface="Arial" pitchFamily="34" charset="-122"/>
                <a:cs typeface="Arial" pitchFamily="34" charset="-120"/>
              </a:rPr>
              <a:t>• Eliminasi Berkas Fisik:
</a:t>
            </a:r>
            <a:pPr indent="0" marL="0">
              <a:lnSpc>
                <a:spcPts val="1600"/>
              </a:lnSpc>
              <a:buNone/>
            </a:pPr>
            <a:r>
              <a:rPr lang="en-US" sz="1000" dirty="0">
                <a:solidFill>
                  <a:srgbClr val="94A3B8"/>
                </a:solidFill>
                <a:latin typeface="Arial" pitchFamily="34" charset="0"/>
                <a:ea typeface="Arial" pitchFamily="34" charset="-122"/>
                <a:cs typeface="Arial" pitchFamily="34" charset="-120"/>
              </a:rPr>
              <a:t>  Menghapus kewajiban upload berkas puluhan MB. Transaksi berupa data teks murni (&lt; 5 KB payload).
</a:t>
            </a:r>
            <a:pPr indent="0" marL="0">
              <a:lnSpc>
                <a:spcPts val="1600"/>
              </a:lnSpc>
              <a:buNone/>
            </a:pPr>
            <a:r>
              <a:rPr lang="en-US" sz="1000" b="1" dirty="0">
                <a:solidFill>
                  <a:srgbClr val="FFFFFF"/>
                </a:solidFill>
                <a:latin typeface="Arial" pitchFamily="34" charset="0"/>
                <a:ea typeface="Arial" pitchFamily="34" charset="-122"/>
                <a:cs typeface="Arial" pitchFamily="34" charset="-120"/>
              </a:rPr>
              <a:t>• 100% Zero External CDN:
</a:t>
            </a:r>
            <a:pPr indent="0" marL="0">
              <a:lnSpc>
                <a:spcPts val="1600"/>
              </a:lnSpc>
              <a:buNone/>
            </a:pPr>
            <a:r>
              <a:rPr lang="en-US" sz="1000" dirty="0">
                <a:solidFill>
                  <a:srgbClr val="94A3B8"/>
                </a:solidFill>
                <a:latin typeface="Arial" pitchFamily="34" charset="0"/>
                <a:ea typeface="Arial" pitchFamily="34" charset="-122"/>
                <a:cs typeface="Arial" pitchFamily="34" charset="-120"/>
              </a:rPr>
              <a:t>  Font IBM Plex dan styling CSS dibundle lokal. Portal tetap bisa diakses pada jaringan intranet tertutup tanpa koneksi Google Fonts / Cloudflare.
</a:t>
            </a:r>
            <a:pPr indent="0" marL="0">
              <a:lnSpc>
                <a:spcPts val="1600"/>
              </a:lnSpc>
              <a:buNone/>
            </a:pPr>
            <a:r>
              <a:rPr lang="en-US" sz="1000" b="1" dirty="0">
                <a:solidFill>
                  <a:srgbClr val="FFFFFF"/>
                </a:solidFill>
                <a:latin typeface="Arial" pitchFamily="34" charset="0"/>
                <a:ea typeface="Arial" pitchFamily="34" charset="-122"/>
                <a:cs typeface="Arial" pitchFamily="34" charset="-120"/>
              </a:rPr>
              <a:t>• Waktu Muat Kilat:
</a:t>
            </a:r>
            <a:pPr indent="0" marL="0">
              <a:lnSpc>
                <a:spcPts val="1600"/>
              </a:lnSpc>
              <a:buNone/>
            </a:pPr>
            <a:r>
              <a:rPr lang="en-US" sz="1000" dirty="0">
                <a:solidFill>
                  <a:srgbClr val="94A3B8"/>
                </a:solidFill>
                <a:latin typeface="Arial" pitchFamily="34" charset="0"/>
                <a:ea typeface="Arial" pitchFamily="34" charset="-122"/>
                <a:cs typeface="Arial" pitchFamily="34" charset="-120"/>
              </a:rPr>
              <a:t>  Halaman terbuka dalam &lt; 2 detik pada koneksi seluler 2G/3G di kantor kelurahan/kecamatan pelosok.</a:t>
            </a:r>
            <a:endParaRPr lang="en-US" sz="1000" dirty="0"/>
          </a:p>
        </p:txBody>
      </p:sp>
      <p:sp>
        <p:nvSpPr>
          <p:cNvPr id="9" name="Shape 7"/>
          <p:cNvSpPr/>
          <p:nvPr/>
        </p:nvSpPr>
        <p:spPr>
          <a:xfrm>
            <a:off x="6217920" y="1463040"/>
            <a:ext cx="5212080" cy="4754880"/>
          </a:xfrm>
          <a:prstGeom prst="rect">
            <a:avLst/>
          </a:prstGeom>
          <a:solidFill>
            <a:srgbClr val="1E293B"/>
          </a:solidFill>
          <a:ln w="19050">
            <a:solidFill>
              <a:srgbClr val="10B981"/>
            </a:solidFill>
            <a:prstDash val="solid"/>
          </a:ln>
        </p:spPr>
      </p:sp>
      <p:sp>
        <p:nvSpPr>
          <p:cNvPr id="10" name="Text 8"/>
          <p:cNvSpPr/>
          <p:nvPr/>
        </p:nvSpPr>
        <p:spPr>
          <a:xfrm>
            <a:off x="6400800" y="1645920"/>
            <a:ext cx="484632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Auto-Save Aman &amp; CAPTCHA Cerdas</a:t>
            </a:r>
            <a:endParaRPr lang="en-US" sz="1400" dirty="0"/>
          </a:p>
        </p:txBody>
      </p:sp>
      <p:sp>
        <p:nvSpPr>
          <p:cNvPr id="11" name="Text 9"/>
          <p:cNvSpPr/>
          <p:nvPr/>
        </p:nvSpPr>
        <p:spPr>
          <a:xfrm>
            <a:off x="6400800" y="2103120"/>
            <a:ext cx="4846320" cy="3931920"/>
          </a:xfrm>
          <a:prstGeom prst="rect">
            <a:avLst/>
          </a:prstGeom>
          <a:noFill/>
          <a:ln/>
        </p:spPr>
        <p:txBody>
          <a:bodyPr wrap="square" rtlCol="0" anchor="ctr"/>
          <a:lstStyle/>
          <a:p>
            <a:pPr indent="0" marL="0">
              <a:lnSpc>
                <a:spcPts val="1600"/>
              </a:lnSpc>
              <a:buNone/>
            </a:pPr>
            <a:r>
              <a:rPr lang="en-US" sz="1000" b="1" dirty="0">
                <a:solidFill>
                  <a:srgbClr val="FFFFFF"/>
                </a:solidFill>
                <a:latin typeface="Arial" pitchFamily="34" charset="0"/>
                <a:ea typeface="Arial" pitchFamily="34" charset="-122"/>
                <a:cs typeface="Arial" pitchFamily="34" charset="-120"/>
              </a:rPr>
              <a:t>• Auto-Save Sesi (sessionStorage):
</a:t>
            </a:r>
            <a:pPr indent="0" marL="0">
              <a:lnSpc>
                <a:spcPts val="1600"/>
              </a:lnSpc>
              <a:buNone/>
            </a:pPr>
            <a:r>
              <a:rPr lang="en-US" sz="1000" dirty="0">
                <a:solidFill>
                  <a:srgbClr val="94A3B8"/>
                </a:solidFill>
                <a:latin typeface="Arial" pitchFamily="34" charset="0"/>
                <a:ea typeface="Arial" pitchFamily="34" charset="-122"/>
                <a:cs typeface="Arial" pitchFamily="34" charset="-120"/>
              </a:rPr>
              <a:t>  Draft tersimpan per ketikan (tte_registration_draft_temp). Aman dari risiko tab browser tertutup.
</a:t>
            </a:r>
            <a:pPr indent="0" marL="0">
              <a:lnSpc>
                <a:spcPts val="1600"/>
              </a:lnSpc>
              <a:buNone/>
            </a:pPr>
            <a:r>
              <a:rPr lang="en-US" sz="1000" b="1" dirty="0">
                <a:solidFill>
                  <a:srgbClr val="FFFFFF"/>
                </a:solidFill>
                <a:latin typeface="Arial" pitchFamily="34" charset="0"/>
                <a:ea typeface="Arial" pitchFamily="34" charset="-122"/>
                <a:cs typeface="Arial" pitchFamily="34" charset="-120"/>
              </a:rPr>
              <a:t>• Kepatuhan Mutlak UU PDP:
</a:t>
            </a:r>
            <a:pPr indent="0" marL="0">
              <a:lnSpc>
                <a:spcPts val="1600"/>
              </a:lnSpc>
              <a:buNone/>
            </a:pPr>
            <a:r>
              <a:rPr lang="en-US" sz="1000" dirty="0">
                <a:solidFill>
                  <a:srgbClr val="94A3B8"/>
                </a:solidFill>
                <a:latin typeface="Arial" pitchFamily="34" charset="0"/>
                <a:ea typeface="Arial" pitchFamily="34" charset="-122"/>
                <a:cs typeface="Arial" pitchFamily="34" charset="-120"/>
              </a:rPr>
              <a:t>  Field NIK 16 digit dan NIP 18 digit sengaja TIDAK disimpan di browser untuk mencegah kebocoran pada workstation bersama.
</a:t>
            </a:r>
            <a:pPr indent="0" marL="0">
              <a:lnSpc>
                <a:spcPts val="1600"/>
              </a:lnSpc>
              <a:buNone/>
            </a:pPr>
            <a:r>
              <a:rPr lang="en-US" sz="1000" b="1" dirty="0">
                <a:solidFill>
                  <a:srgbClr val="FFFFFF"/>
                </a:solidFill>
                <a:latin typeface="Arial" pitchFamily="34" charset="0"/>
                <a:ea typeface="Arial" pitchFamily="34" charset="-122"/>
                <a:cs typeface="Arial" pitchFamily="34" charset="-120"/>
              </a:rPr>
              <a:t>• Router CAPTCHA Cerdas:
</a:t>
            </a:r>
            <a:pPr indent="0" marL="0">
              <a:lnSpc>
                <a:spcPts val="1600"/>
              </a:lnSpc>
              <a:buNone/>
            </a:pPr>
            <a:r>
              <a:rPr lang="en-US" sz="1000" dirty="0">
                <a:solidFill>
                  <a:srgbClr val="94A3B8"/>
                </a:solidFill>
                <a:latin typeface="Arial" pitchFamily="34" charset="0"/>
                <a:ea typeface="Arial" pitchFamily="34" charset="-122"/>
                <a:cs typeface="Arial" pitchFamily="34" charset="-120"/>
              </a:rPr>
              <a:t>  Google reCAPTCHA v2/v3 diproteksi timeout 3 detik. Jika lambat/gagal, otomatis aktifkan Local Math CAPTCHA (HMAC-SHA256).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07. OTOMASI EMAIL DINAS</a:t>
            </a:r>
            <a:endParaRPr lang="en-US" sz="1000" dirty="0"/>
          </a:p>
        </p:txBody>
      </p:sp>
      <p:sp>
        <p:nvSpPr>
          <p:cNvPr id="3" name="Text 1"/>
          <p:cNvSpPr/>
          <p:nvPr/>
        </p:nvSpPr>
        <p:spPr>
          <a:xfrm>
            <a:off x="731520" y="594360"/>
            <a:ext cx="10515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Auto Email Generator &amp; AJAX Recap Widget</a:t>
            </a:r>
            <a:endParaRPr lang="en-US" sz="2000" dirty="0"/>
          </a:p>
        </p:txBody>
      </p:sp>
      <p:sp>
        <p:nvSpPr>
          <p:cNvPr id="4" name="Shape 2"/>
          <p:cNvSpPr/>
          <p:nvPr/>
        </p:nvSpPr>
        <p:spPr>
          <a:xfrm>
            <a:off x="731520" y="1143000"/>
            <a:ext cx="10698480" cy="0"/>
          </a:xfrm>
          <a:prstGeom prst="line">
            <a:avLst/>
          </a:prstGeom>
          <a:noFill/>
          <a:ln w="12700">
            <a:solidFill>
              <a:srgbClr val="334155"/>
            </a:solidFill>
            <a:prstDash val="solid"/>
          </a:ln>
        </p:spPr>
      </p:sp>
      <p:sp>
        <p:nvSpPr>
          <p:cNvPr id="5" name="Text 3"/>
          <p:cNvSpPr/>
          <p:nvPr/>
        </p:nvSpPr>
        <p:spPr>
          <a:xfrm>
            <a:off x="731520" y="6492240"/>
            <a:ext cx="9144000"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DISKOMINFO / BIDANG PERSANDIAN KOTA CIREBON • SISTEM MONITORING TTE V4.1</a:t>
            </a:r>
            <a:endParaRPr lang="en-US" sz="900" dirty="0"/>
          </a:p>
        </p:txBody>
      </p:sp>
      <p:sp>
        <p:nvSpPr>
          <p:cNvPr id="6" name="Shape 4"/>
          <p:cNvSpPr/>
          <p:nvPr/>
        </p:nvSpPr>
        <p:spPr>
          <a:xfrm>
            <a:off x="731520" y="1463040"/>
            <a:ext cx="5120640" cy="4754880"/>
          </a:xfrm>
          <a:prstGeom prst="rect">
            <a:avLst/>
          </a:prstGeom>
          <a:solidFill>
            <a:srgbClr val="1E293B"/>
          </a:solidFill>
          <a:ln w="19050">
            <a:solidFill>
              <a:srgbClr val="06B6D4"/>
            </a:solidFill>
            <a:prstDash val="solid"/>
          </a:ln>
        </p:spPr>
      </p:sp>
      <p:sp>
        <p:nvSpPr>
          <p:cNvPr id="7" name="Text 5"/>
          <p:cNvSpPr/>
          <p:nvPr/>
        </p:nvSpPr>
        <p:spPr>
          <a:xfrm>
            <a:off x="914400" y="1645920"/>
            <a:ext cx="475488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Logika Pembangkitan Otomatis</a:t>
            </a:r>
            <a:endParaRPr lang="en-US" sz="1400" dirty="0"/>
          </a:p>
        </p:txBody>
      </p:sp>
      <p:sp>
        <p:nvSpPr>
          <p:cNvPr id="8" name="Text 6"/>
          <p:cNvSpPr/>
          <p:nvPr/>
        </p:nvSpPr>
        <p:spPr>
          <a:xfrm>
            <a:off x="914400" y="2103120"/>
            <a:ext cx="4754880" cy="73152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Sistem menjalankan EmailGeneratorService yang membersihkan spasi, simbol khusus, dan seluruh gelar ASN:</a:t>
            </a:r>
            <a:endParaRPr lang="en-US" sz="1000" dirty="0"/>
          </a:p>
        </p:txBody>
      </p:sp>
      <p:sp>
        <p:nvSpPr>
          <p:cNvPr id="9" name="Shape 7"/>
          <p:cNvSpPr/>
          <p:nvPr/>
        </p:nvSpPr>
        <p:spPr>
          <a:xfrm>
            <a:off x="914400" y="2834640"/>
            <a:ext cx="4754880" cy="3017520"/>
          </a:xfrm>
          <a:prstGeom prst="rect">
            <a:avLst/>
          </a:prstGeom>
          <a:solidFill>
            <a:srgbClr val="090D16"/>
          </a:solidFill>
          <a:ln w="12700">
            <a:solidFill>
              <a:srgbClr val="0284C7"/>
            </a:solidFill>
            <a:prstDash val="solid"/>
          </a:ln>
        </p:spPr>
      </p:sp>
      <p:sp>
        <p:nvSpPr>
          <p:cNvPr id="10" name="Text 8"/>
          <p:cNvSpPr/>
          <p:nvPr/>
        </p:nvSpPr>
        <p:spPr>
          <a:xfrm>
            <a:off x="1097280" y="2926080"/>
            <a:ext cx="4389120" cy="283464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Contoh Nama:
</a:t>
            </a:r>
            <a:pPr indent="0" marL="0">
              <a:buNone/>
            </a:pPr>
            <a:r>
              <a:rPr lang="en-US" sz="1000" b="1" dirty="0">
                <a:solidFill>
                  <a:srgbClr val="FFFFFF"/>
                </a:solidFill>
                <a:latin typeface="Courier New" pitchFamily="34" charset="0"/>
                <a:ea typeface="Courier New" pitchFamily="34" charset="-122"/>
                <a:cs typeface="Courier New" pitchFamily="34" charset="-120"/>
              </a:rPr>
              <a:t>"Dr. H. Ahmad Fauzi, S.Kom., M.Si"
</a:t>
            </a:r>
            <a:pPr indent="0" marL="0">
              <a:buNone/>
            </a:pPr>
            <a:r>
              <a:rPr lang="en-US" sz="900" dirty="0">
                <a:solidFill>
                  <a:srgbClr val="94A3B8"/>
                </a:solidFill>
                <a:latin typeface="Courier New" pitchFamily="34" charset="0"/>
                <a:ea typeface="Courier New" pitchFamily="34" charset="-122"/>
                <a:cs typeface="Courier New" pitchFamily="34" charset="-120"/>
              </a:rPr>
              <a:t>NIP: 198501012010011001
</a:t>
            </a:r>
            <a:pPr indent="0" marL="0">
              <a:buNone/>
            </a:pPr>
            <a:r>
              <a:rPr lang="en-US" sz="900" dirty="0">
                <a:solidFill>
                  <a:srgbClr val="06B6D4"/>
                </a:solidFill>
                <a:latin typeface="Courier New" pitchFamily="34" charset="0"/>
                <a:ea typeface="Courier New" pitchFamily="34" charset="-122"/>
                <a:cs typeface="Courier New" pitchFamily="34" charset="-120"/>
              </a:rPr>
              <a:t>Format Usulan Otomatis:
</a:t>
            </a:r>
            <a:pPr indent="0" marL="0">
              <a:buNone/>
            </a:pPr>
            <a:r>
              <a:rPr lang="en-US" sz="1000" b="1" dirty="0">
                <a:solidFill>
                  <a:srgbClr val="10B981"/>
                </a:solidFill>
                <a:latin typeface="Courier New" pitchFamily="34" charset="0"/>
                <a:ea typeface="Courier New" pitchFamily="34" charset="-122"/>
                <a:cs typeface="Courier New" pitchFamily="34" charset="-120"/>
              </a:rPr>
              <a:t>ahmad.198501012010011001@cirebonkota.go.id
</a:t>
            </a:r>
            <a:pPr indent="0" marL="0">
              <a:buNone/>
            </a:pPr>
            <a:r>
              <a:rPr lang="en-US" sz="900" dirty="0">
                <a:solidFill>
                  <a:srgbClr val="94A3B8"/>
                </a:solidFill>
                <a:latin typeface="Courier New" pitchFamily="34" charset="0"/>
                <a:ea typeface="Courier New" pitchFamily="34" charset="-122"/>
                <a:cs typeface="Courier New" pitchFamily="34" charset="-120"/>
              </a:rPr>
              <a:t>Regex Sinkron Frontend-Backend:
</a:t>
            </a:r>
            <a:pPr indent="0" marL="0">
              <a:buNone/>
            </a:pPr>
            <a:r>
              <a:rPr lang="en-US" sz="950" dirty="0">
                <a:solidFill>
                  <a:srgbClr val="F59E0B"/>
                </a:solidFill>
                <a:latin typeface="Courier New" pitchFamily="34" charset="0"/>
                <a:ea typeface="Courier New" pitchFamily="34" charset="-122"/>
                <a:cs typeface="Courier New" pitchFamily="34" charset="-120"/>
              </a:rPr>
              <a:t>/^[a-z0-9]+(\.[a-z0-9]+)*$/</a:t>
            </a:r>
            <a:endParaRPr lang="en-US" sz="900" dirty="0"/>
          </a:p>
        </p:txBody>
      </p:sp>
      <p:sp>
        <p:nvSpPr>
          <p:cNvPr id="11" name="Shape 9"/>
          <p:cNvSpPr/>
          <p:nvPr/>
        </p:nvSpPr>
        <p:spPr>
          <a:xfrm>
            <a:off x="6217920" y="1463040"/>
            <a:ext cx="5212080" cy="4754880"/>
          </a:xfrm>
          <a:prstGeom prst="rect">
            <a:avLst/>
          </a:prstGeom>
          <a:solidFill>
            <a:srgbClr val="1E293B"/>
          </a:solidFill>
          <a:ln w="19050">
            <a:solidFill>
              <a:srgbClr val="F59E0B"/>
            </a:solidFill>
            <a:prstDash val="solid"/>
          </a:ln>
        </p:spPr>
      </p:sp>
      <p:sp>
        <p:nvSpPr>
          <p:cNvPr id="12" name="Text 10"/>
          <p:cNvSpPr/>
          <p:nvPr/>
        </p:nvSpPr>
        <p:spPr>
          <a:xfrm>
            <a:off x="6400800" y="1645920"/>
            <a:ext cx="484632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Interaksi Verifikasi Satu Klik (Admin)</a:t>
            </a:r>
            <a:endParaRPr lang="en-US" sz="1400" dirty="0"/>
          </a:p>
        </p:txBody>
      </p:sp>
      <p:sp>
        <p:nvSpPr>
          <p:cNvPr id="13" name="Text 11"/>
          <p:cNvSpPr/>
          <p:nvPr/>
        </p:nvSpPr>
        <p:spPr>
          <a:xfrm>
            <a:off x="6400800" y="2103120"/>
            <a:ext cx="4846320" cy="3931920"/>
          </a:xfrm>
          <a:prstGeom prst="rect">
            <a:avLst/>
          </a:prstGeom>
          <a:noFill/>
          <a:ln/>
        </p:spPr>
        <p:txBody>
          <a:bodyPr wrap="square" rtlCol="0" anchor="ctr"/>
          <a:lstStyle/>
          <a:p>
            <a:pPr indent="0" marL="0">
              <a:lnSpc>
                <a:spcPts val="1600"/>
              </a:lnSpc>
              <a:buNone/>
            </a:pPr>
            <a:r>
              <a:rPr lang="en-US" sz="1000" b="1" dirty="0">
                <a:solidFill>
                  <a:srgbClr val="FFFFFF"/>
                </a:solidFill>
                <a:latin typeface="Arial" pitchFamily="34" charset="0"/>
                <a:ea typeface="Arial" pitchFamily="34" charset="-122"/>
                <a:cs typeface="Arial" pitchFamily="34" charset="-120"/>
              </a:rPr>
              <a:t>• Tombol "Gunakan Usulan":
</a:t>
            </a:r>
            <a:pPr indent="0" marL="0">
              <a:lnSpc>
                <a:spcPts val="1600"/>
              </a:lnSpc>
              <a:buNone/>
            </a:pPr>
            <a:r>
              <a:rPr lang="en-US" sz="1000" dirty="0">
                <a:solidFill>
                  <a:srgbClr val="94A3B8"/>
                </a:solidFill>
                <a:latin typeface="Arial" pitchFamily="34" charset="0"/>
                <a:ea typeface="Arial" pitchFamily="34" charset="-122"/>
                <a:cs typeface="Arial" pitchFamily="34" charset="-120"/>
              </a:rPr>
              <a:t>  Menyalin usulan email otomatis ke field input email definitif secara instan.
</a:t>
            </a:r>
            <a:pPr indent="0" marL="0">
              <a:lnSpc>
                <a:spcPts val="1600"/>
              </a:lnSpc>
              <a:buNone/>
            </a:pPr>
            <a:r>
              <a:rPr lang="en-US" sz="1000" b="1" dirty="0">
                <a:solidFill>
                  <a:srgbClr val="FFFFFF"/>
                </a:solidFill>
                <a:latin typeface="Arial" pitchFamily="34" charset="0"/>
                <a:ea typeface="Arial" pitchFamily="34" charset="-122"/>
                <a:cs typeface="Arial" pitchFamily="34" charset="-120"/>
              </a:rPr>
              <a:t>• Fleksibilitas Edit Manual:
</a:t>
            </a:r>
            <a:pPr indent="0" marL="0">
              <a:lnSpc>
                <a:spcPts val="1600"/>
              </a:lnSpc>
              <a:buNone/>
            </a:pPr>
            <a:r>
              <a:rPr lang="en-US" sz="1000" dirty="0">
                <a:solidFill>
                  <a:srgbClr val="94A3B8"/>
                </a:solidFill>
                <a:latin typeface="Arial" pitchFamily="34" charset="0"/>
                <a:ea typeface="Arial" pitchFamily="34" charset="-122"/>
                <a:cs typeface="Arial" pitchFamily="34" charset="-120"/>
              </a:rPr>
              <a:t>  Superadmin tetap dapat mengubah username jika ada kebutuhan penyesuaian kedinasan.
</a:t>
            </a:r>
            <a:pPr indent="0" marL="0">
              <a:lnSpc>
                <a:spcPts val="1600"/>
              </a:lnSpc>
              <a:buNone/>
            </a:pPr>
            <a:r>
              <a:rPr lang="en-US" sz="1000" b="1" dirty="0">
                <a:solidFill>
                  <a:srgbClr val="FFFFFF"/>
                </a:solidFill>
                <a:latin typeface="Arial" pitchFamily="34" charset="0"/>
                <a:ea typeface="Arial" pitchFamily="34" charset="-122"/>
                <a:cs typeface="Arial" pitchFamily="34" charset="-120"/>
              </a:rPr>
              <a:t>• Tombol "Kunci &amp; Rekap":
</a:t>
            </a:r>
            <a:pPr indent="0" marL="0">
              <a:lnSpc>
                <a:spcPts val="1600"/>
              </a:lnSpc>
              <a:buNone/>
            </a:pPr>
            <a:r>
              <a:rPr lang="en-US" sz="1000" dirty="0">
                <a:solidFill>
                  <a:srgbClr val="94A3B8"/>
                </a:solidFill>
                <a:latin typeface="Arial" pitchFamily="34" charset="0"/>
                <a:ea typeface="Arial" pitchFamily="34" charset="-122"/>
                <a:cs typeface="Arial" pitchFamily="34" charset="-120"/>
              </a:rPr>
              <a:t>  Eksekusi AJAX mengunci email_final_terverifikasi dan menandai flag is_email_recap_confirmed = true.
</a:t>
            </a:r>
            <a:pPr indent="0" marL="0">
              <a:lnSpc>
                <a:spcPts val="1600"/>
              </a:lnSpc>
              <a:buNone/>
            </a:pPr>
            <a:r>
              <a:rPr lang="en-US" sz="1000" b="1" dirty="0">
                <a:solidFill>
                  <a:srgbClr val="FFFFFF"/>
                </a:solidFill>
                <a:latin typeface="Arial" pitchFamily="34" charset="0"/>
                <a:ea typeface="Arial" pitchFamily="34" charset="-122"/>
                <a:cs typeface="Arial" pitchFamily="34" charset="-120"/>
              </a:rPr>
              <a:t>• Efisiensi Waktu:
</a:t>
            </a:r>
            <a:pPr indent="0" marL="0">
              <a:lnSpc>
                <a:spcPts val="1600"/>
              </a:lnSpc>
              <a:buNone/>
            </a:pPr>
            <a:r>
              <a:rPr lang="en-US" sz="1000" dirty="0">
                <a:solidFill>
                  <a:srgbClr val="94A3B8"/>
                </a:solidFill>
                <a:latin typeface="Arial" pitchFamily="34" charset="0"/>
                <a:ea typeface="Arial" pitchFamily="34" charset="-122"/>
                <a:cs typeface="Arial" pitchFamily="34" charset="-120"/>
              </a:rPr>
              <a:t>  Memangkas waktu rekapitulasi dari 15 menit menjadi &lt; 1 menit per pemohon.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08. KEAMANAN PERIMETER</a:t>
            </a:r>
            <a:endParaRPr lang="en-US" sz="1000" dirty="0"/>
          </a:p>
        </p:txBody>
      </p:sp>
      <p:sp>
        <p:nvSpPr>
          <p:cNvPr id="3" name="Text 1"/>
          <p:cNvSpPr/>
          <p:nvPr/>
        </p:nvSpPr>
        <p:spPr>
          <a:xfrm>
            <a:off x="731520" y="594360"/>
            <a:ext cx="10515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Zero-Trust VPN Gateway &amp; Stealth 404 Defense</a:t>
            </a:r>
            <a:endParaRPr lang="en-US" sz="2000" dirty="0"/>
          </a:p>
        </p:txBody>
      </p:sp>
      <p:sp>
        <p:nvSpPr>
          <p:cNvPr id="4" name="Shape 2"/>
          <p:cNvSpPr/>
          <p:nvPr/>
        </p:nvSpPr>
        <p:spPr>
          <a:xfrm>
            <a:off x="731520" y="1143000"/>
            <a:ext cx="10698480" cy="0"/>
          </a:xfrm>
          <a:prstGeom prst="line">
            <a:avLst/>
          </a:prstGeom>
          <a:noFill/>
          <a:ln w="12700">
            <a:solidFill>
              <a:srgbClr val="334155"/>
            </a:solidFill>
            <a:prstDash val="solid"/>
          </a:ln>
        </p:spPr>
      </p:sp>
      <p:sp>
        <p:nvSpPr>
          <p:cNvPr id="5" name="Text 3"/>
          <p:cNvSpPr/>
          <p:nvPr/>
        </p:nvSpPr>
        <p:spPr>
          <a:xfrm>
            <a:off x="731520" y="6492240"/>
            <a:ext cx="9144000"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DISKOMINFO / BIDANG PERSANDIAN KOTA CIREBON • SISTEM MONITORING TTE V4.1</a:t>
            </a:r>
            <a:endParaRPr lang="en-US" sz="900" dirty="0"/>
          </a:p>
        </p:txBody>
      </p:sp>
      <p:sp>
        <p:nvSpPr>
          <p:cNvPr id="6" name="Shape 4"/>
          <p:cNvSpPr/>
          <p:nvPr/>
        </p:nvSpPr>
        <p:spPr>
          <a:xfrm>
            <a:off x="731520" y="1463040"/>
            <a:ext cx="5120640" cy="4754880"/>
          </a:xfrm>
          <a:prstGeom prst="rect">
            <a:avLst/>
          </a:prstGeom>
          <a:solidFill>
            <a:srgbClr val="1E293B"/>
          </a:solidFill>
          <a:ln w="19050">
            <a:solidFill>
              <a:srgbClr val="F43F5E"/>
            </a:solidFill>
            <a:prstDash val="solid"/>
          </a:ln>
        </p:spPr>
      </p:sp>
      <p:sp>
        <p:nvSpPr>
          <p:cNvPr id="7" name="Text 5"/>
          <p:cNvSpPr/>
          <p:nvPr/>
        </p:nvSpPr>
        <p:spPr>
          <a:xfrm>
            <a:off x="914400" y="1645920"/>
            <a:ext cx="475488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Penghapusan Login Publik Terbuka</a:t>
            </a:r>
            <a:endParaRPr lang="en-US" sz="1400" dirty="0"/>
          </a:p>
        </p:txBody>
      </p:sp>
      <p:sp>
        <p:nvSpPr>
          <p:cNvPr id="8" name="Text 6"/>
          <p:cNvSpPr/>
          <p:nvPr/>
        </p:nvSpPr>
        <p:spPr>
          <a:xfrm>
            <a:off x="914400" y="2103120"/>
            <a:ext cx="4754880" cy="3931920"/>
          </a:xfrm>
          <a:prstGeom prst="rect">
            <a:avLst/>
          </a:prstGeom>
          <a:noFill/>
          <a:ln/>
        </p:spPr>
        <p:txBody>
          <a:bodyPr wrap="square" rtlCol="0" anchor="ctr"/>
          <a:lstStyle/>
          <a:p>
            <a:pPr indent="0" marL="0">
              <a:lnSpc>
                <a:spcPts val="1600"/>
              </a:lnSpc>
              <a:buNone/>
            </a:pPr>
            <a:r>
              <a:rPr lang="en-US" sz="1000" b="1" dirty="0">
                <a:solidFill>
                  <a:srgbClr val="FFFFFF"/>
                </a:solidFill>
                <a:latin typeface="Arial" pitchFamily="34" charset="0"/>
                <a:ea typeface="Arial" pitchFamily="34" charset="-122"/>
                <a:cs typeface="Arial" pitchFamily="34" charset="-120"/>
              </a:rPr>
              <a:t>• Rute /login Publik Dihapus:
</a:t>
            </a:r>
            <a:pPr indent="0" marL="0">
              <a:lnSpc>
                <a:spcPts val="1600"/>
              </a:lnSpc>
              <a:buNone/>
            </a:pPr>
            <a:r>
              <a:rPr lang="en-US" sz="1000" dirty="0">
                <a:solidFill>
                  <a:srgbClr val="94A3B8"/>
                </a:solidFill>
                <a:latin typeface="Arial" pitchFamily="34" charset="0"/>
                <a:ea typeface="Arial" pitchFamily="34" charset="-122"/>
                <a:cs typeface="Arial" pitchFamily="34" charset="-120"/>
              </a:rPr>
              <a:t>  Mengeliminasi target serangan credential stuffing, brute force bot, dan port scanning.
</a:t>
            </a:r>
            <a:pPr indent="0" marL="0">
              <a:lnSpc>
                <a:spcPts val="1600"/>
              </a:lnSpc>
              <a:buNone/>
            </a:pPr>
            <a:r>
              <a:rPr lang="en-US" sz="1000" b="1" dirty="0">
                <a:solidFill>
                  <a:srgbClr val="FFFFFF"/>
                </a:solidFill>
                <a:latin typeface="Arial" pitchFamily="34" charset="0"/>
                <a:ea typeface="Arial" pitchFamily="34" charset="-122"/>
                <a:cs typeface="Arial" pitchFamily="34" charset="-120"/>
              </a:rPr>
              <a:t>• Pintu Masuk Khusus VPN:
</a:t>
            </a:r>
            <a:pPr indent="0" marL="0">
              <a:lnSpc>
                <a:spcPts val="1600"/>
              </a:lnSpc>
              <a:buNone/>
            </a:pPr>
            <a:r>
              <a:rPr lang="en-US" sz="1000" dirty="0">
                <a:solidFill>
                  <a:srgbClr val="94A3B8"/>
                </a:solidFill>
                <a:latin typeface="Arial" pitchFamily="34" charset="0"/>
                <a:ea typeface="Arial" pitchFamily="34" charset="-122"/>
                <a:cs typeface="Arial" pitchFamily="34" charset="-120"/>
              </a:rPr>
              <a:t>  Autentikasi dialihkan ke /gateway/login dan /admin/*.
</a:t>
            </a:r>
            <a:pPr indent="0" marL="0">
              <a:lnSpc>
                <a:spcPts val="1600"/>
              </a:lnSpc>
              <a:buNone/>
            </a:pPr>
            <a:r>
              <a:rPr lang="en-US" sz="1000" b="1" dirty="0">
                <a:solidFill>
                  <a:srgbClr val="FFFFFF"/>
                </a:solidFill>
                <a:latin typeface="Arial" pitchFamily="34" charset="0"/>
                <a:ea typeface="Arial" pitchFamily="34" charset="-122"/>
                <a:cs typeface="Arial" pitchFamily="34" charset="-120"/>
              </a:rPr>
              <a:t>• Whitelist Subnet CIDR (config/vpn.php):
</a:t>
            </a:r>
            <a:pPr indent="0" marL="0">
              <a:lnSpc>
                <a:spcPts val="1600"/>
              </a:lnSpc>
              <a:buNone/>
            </a:pPr>
            <a:r>
              <a:rPr lang="en-US" sz="900" dirty="0">
                <a:solidFill>
                  <a:srgbClr val="06B6D4"/>
                </a:solidFill>
                <a:latin typeface="Courier New" pitchFamily="34" charset="0"/>
                <a:ea typeface="Courier New" pitchFamily="34" charset="-122"/>
                <a:cs typeface="Courier New" pitchFamily="34" charset="-120"/>
              </a:rPr>
              <a:t>  10.0.0.0/8 (VPN Diskominfo)</a:t>
            </a:r>
            <a:endParaRPr lang="en-US" sz="1000" dirty="0"/>
          </a:p>
          <a:p>
            <a:pPr indent="0" marL="0">
              <a:lnSpc>
                <a:spcPts val="1600"/>
              </a:lnSpc>
              <a:buNone/>
            </a:pPr>
            <a:r>
              <a:rPr lang="en-US" sz="900" dirty="0">
                <a:solidFill>
                  <a:srgbClr val="06B6D4"/>
                </a:solidFill>
                <a:latin typeface="Courier New" pitchFamily="34" charset="0"/>
                <a:ea typeface="Courier New" pitchFamily="34" charset="-122"/>
                <a:cs typeface="Courier New" pitchFamily="34" charset="-120"/>
              </a:rPr>
              <a:t>  172.16.0.0/12 (Docker &amp; Gateway)</a:t>
            </a:r>
            <a:endParaRPr lang="en-US" sz="1000" dirty="0"/>
          </a:p>
          <a:p>
            <a:pPr indent="0" marL="0">
              <a:lnSpc>
                <a:spcPts val="1600"/>
              </a:lnSpc>
              <a:buNone/>
            </a:pPr>
            <a:r>
              <a:rPr lang="en-US" sz="900" dirty="0">
                <a:solidFill>
                  <a:srgbClr val="06B6D4"/>
                </a:solidFill>
                <a:latin typeface="Courier New" pitchFamily="34" charset="0"/>
                <a:ea typeface="Courier New" pitchFamily="34" charset="-122"/>
                <a:cs typeface="Courier New" pitchFamily="34" charset="-120"/>
              </a:rPr>
              <a:t>  192.168.0.0/16 (LAN Pemkot Cirebon)</a:t>
            </a:r>
            <a:endParaRPr lang="en-US" sz="1000" dirty="0"/>
          </a:p>
          <a:p>
            <a:pPr indent="0" marL="0">
              <a:lnSpc>
                <a:spcPts val="1600"/>
              </a:lnSpc>
              <a:buNone/>
            </a:pPr>
            <a:r>
              <a:rPr lang="en-US" sz="900" dirty="0">
                <a:solidFill>
                  <a:srgbClr val="06B6D4"/>
                </a:solidFill>
                <a:latin typeface="Courier New" pitchFamily="34" charset="0"/>
                <a:ea typeface="Courier New" pitchFamily="34" charset="-122"/>
                <a:cs typeface="Courier New" pitchFamily="34" charset="-120"/>
              </a:rPr>
              <a:t>  127.0.0.1/32 (Localhost)</a:t>
            </a:r>
            <a:endParaRPr lang="en-US" sz="1000" dirty="0"/>
          </a:p>
        </p:txBody>
      </p:sp>
      <p:sp>
        <p:nvSpPr>
          <p:cNvPr id="9" name="Shape 7"/>
          <p:cNvSpPr/>
          <p:nvPr/>
        </p:nvSpPr>
        <p:spPr>
          <a:xfrm>
            <a:off x="6217920" y="1463040"/>
            <a:ext cx="5212080" cy="4754880"/>
          </a:xfrm>
          <a:prstGeom prst="rect">
            <a:avLst/>
          </a:prstGeom>
          <a:solidFill>
            <a:srgbClr val="1E293B"/>
          </a:solidFill>
          <a:ln w="19050">
            <a:solidFill>
              <a:srgbClr val="06B6D4"/>
            </a:solidFill>
            <a:prstDash val="solid"/>
          </a:ln>
        </p:spPr>
      </p:sp>
      <p:sp>
        <p:nvSpPr>
          <p:cNvPr id="10" name="Text 8"/>
          <p:cNvSpPr/>
          <p:nvPr/>
        </p:nvSpPr>
        <p:spPr>
          <a:xfrm>
            <a:off x="6400800" y="1645920"/>
            <a:ext cx="484632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Mekanisme Stealth 404 Block</a:t>
            </a:r>
            <a:endParaRPr lang="en-US" sz="1400" dirty="0"/>
          </a:p>
        </p:txBody>
      </p:sp>
      <p:sp>
        <p:nvSpPr>
          <p:cNvPr id="11" name="Text 9"/>
          <p:cNvSpPr/>
          <p:nvPr/>
        </p:nvSpPr>
        <p:spPr>
          <a:xfrm>
            <a:off x="6400800" y="2103120"/>
            <a:ext cx="4846320" cy="73152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Jika IP publik dari luar VPN mencoba membuka rute admin, server TIDAK memberikan status 403 Forbidden atau redirect login, melainkan:</a:t>
            </a:r>
            <a:endParaRPr lang="en-US" sz="1000" dirty="0"/>
          </a:p>
        </p:txBody>
      </p:sp>
      <p:sp>
        <p:nvSpPr>
          <p:cNvPr id="12" name="Shape 10"/>
          <p:cNvSpPr/>
          <p:nvPr/>
        </p:nvSpPr>
        <p:spPr>
          <a:xfrm>
            <a:off x="6583680" y="2926080"/>
            <a:ext cx="4480560" cy="1371600"/>
          </a:xfrm>
          <a:prstGeom prst="rect">
            <a:avLst/>
          </a:prstGeom>
          <a:solidFill>
            <a:srgbClr val="090D16"/>
          </a:solidFill>
          <a:ln w="19050">
            <a:solidFill>
              <a:srgbClr val="F43F5E"/>
            </a:solidFill>
            <a:prstDash val="solid"/>
          </a:ln>
        </p:spPr>
      </p:sp>
      <p:sp>
        <p:nvSpPr>
          <p:cNvPr id="13" name="Text 11"/>
          <p:cNvSpPr/>
          <p:nvPr/>
        </p:nvSpPr>
        <p:spPr>
          <a:xfrm>
            <a:off x="6583680" y="3200400"/>
            <a:ext cx="4480560" cy="457200"/>
          </a:xfrm>
          <a:prstGeom prst="rect">
            <a:avLst/>
          </a:prstGeom>
          <a:noFill/>
          <a:ln/>
        </p:spPr>
        <p:txBody>
          <a:bodyPr wrap="square" rtlCol="0" anchor="ctr"/>
          <a:lstStyle/>
          <a:p>
            <a:pPr algn="ctr" indent="0" marL="0">
              <a:buNone/>
            </a:pPr>
            <a:r>
              <a:rPr lang="en-US" sz="2200" b="1" dirty="0">
                <a:solidFill>
                  <a:srgbClr val="F43F5E"/>
                </a:solidFill>
                <a:latin typeface="Courier New" pitchFamily="34" charset="0"/>
                <a:ea typeface="Courier New" pitchFamily="34" charset="-122"/>
                <a:cs typeface="Courier New" pitchFamily="34" charset="-120"/>
              </a:rPr>
              <a:t>HTTP 404 NOT FOUND</a:t>
            </a:r>
            <a:endParaRPr lang="en-US" sz="2200" dirty="0"/>
          </a:p>
        </p:txBody>
      </p:sp>
      <p:sp>
        <p:nvSpPr>
          <p:cNvPr id="14" name="Text 12"/>
          <p:cNvSpPr/>
          <p:nvPr/>
        </p:nvSpPr>
        <p:spPr>
          <a:xfrm>
            <a:off x="6583680" y="3657600"/>
            <a:ext cx="4480560" cy="365760"/>
          </a:xfrm>
          <a:prstGeom prst="rect">
            <a:avLst/>
          </a:prstGeom>
          <a:noFill/>
          <a:ln/>
        </p:spPr>
        <p:txBody>
          <a:bodyPr wrap="square"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Halaman Tidak Ditemukan (Stealth Mode)</a:t>
            </a:r>
            <a:endParaRPr lang="en-US" sz="1000" dirty="0"/>
          </a:p>
        </p:txBody>
      </p:sp>
      <p:sp>
        <p:nvSpPr>
          <p:cNvPr id="15" name="Text 13"/>
          <p:cNvSpPr/>
          <p:nvPr/>
        </p:nvSpPr>
        <p:spPr>
          <a:xfrm>
            <a:off x="6400800" y="4572000"/>
            <a:ext cx="4846320" cy="1371600"/>
          </a:xfrm>
          <a:prstGeom prst="rect">
            <a:avLst/>
          </a:prstGeom>
          <a:noFill/>
          <a:ln/>
        </p:spPr>
        <p:txBody>
          <a:bodyPr wrap="square" rtlCol="0" anchor="ctr"/>
          <a:lstStyle/>
          <a:p>
            <a:pPr indent="0" marL="0">
              <a:lnSpc>
                <a:spcPts val="1500"/>
              </a:lnSpc>
              <a:buNone/>
            </a:pPr>
            <a:r>
              <a:rPr lang="en-US" sz="1000" dirty="0">
                <a:solidFill>
                  <a:srgbClr val="94A3B8"/>
                </a:solidFill>
                <a:latin typeface="Arial" pitchFamily="34" charset="0"/>
                <a:ea typeface="Arial" pitchFamily="34" charset="-122"/>
                <a:cs typeface="Arial" pitchFamily="34" charset="-120"/>
              </a:rPr>
              <a:t>Penyerang menganggap endpoint admin fiktif atau tidak ada di domain ini (Security through Obscurity + Zero-Trust Perimeter).</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09. KEAMANAN BERLAPIS</a:t>
            </a:r>
            <a:endParaRPr lang="en-US" sz="1000" dirty="0"/>
          </a:p>
        </p:txBody>
      </p:sp>
      <p:sp>
        <p:nvSpPr>
          <p:cNvPr id="3" name="Text 1"/>
          <p:cNvSpPr/>
          <p:nvPr/>
        </p:nvSpPr>
        <p:spPr>
          <a:xfrm>
            <a:off x="731520" y="594360"/>
            <a:ext cx="10515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Arsitektur Keamanan Berlapis (8 Layer Defense-in-Depth)</a:t>
            </a:r>
            <a:endParaRPr lang="en-US" sz="2000" dirty="0"/>
          </a:p>
        </p:txBody>
      </p:sp>
      <p:sp>
        <p:nvSpPr>
          <p:cNvPr id="4" name="Shape 2"/>
          <p:cNvSpPr/>
          <p:nvPr/>
        </p:nvSpPr>
        <p:spPr>
          <a:xfrm>
            <a:off x="731520" y="1143000"/>
            <a:ext cx="10698480" cy="0"/>
          </a:xfrm>
          <a:prstGeom prst="line">
            <a:avLst/>
          </a:prstGeom>
          <a:noFill/>
          <a:ln w="12700">
            <a:solidFill>
              <a:srgbClr val="334155"/>
            </a:solidFill>
            <a:prstDash val="solid"/>
          </a:ln>
        </p:spPr>
      </p:sp>
      <p:sp>
        <p:nvSpPr>
          <p:cNvPr id="5" name="Text 3"/>
          <p:cNvSpPr/>
          <p:nvPr/>
        </p:nvSpPr>
        <p:spPr>
          <a:xfrm>
            <a:off x="731520" y="6492240"/>
            <a:ext cx="9144000"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DISKOMINFO / BIDANG PERSANDIAN KOTA CIREBON • SISTEM MONITORING TTE V4.1</a:t>
            </a:r>
            <a:endParaRPr lang="en-US" sz="900" dirty="0"/>
          </a:p>
        </p:txBody>
      </p:sp>
      <p:sp>
        <p:nvSpPr>
          <p:cNvPr id="6" name="Shape 4"/>
          <p:cNvSpPr/>
          <p:nvPr/>
        </p:nvSpPr>
        <p:spPr>
          <a:xfrm>
            <a:off x="731520" y="1463040"/>
            <a:ext cx="2468880" cy="3291840"/>
          </a:xfrm>
          <a:prstGeom prst="rect">
            <a:avLst/>
          </a:prstGeom>
          <a:solidFill>
            <a:srgbClr val="1E293B"/>
          </a:solidFill>
          <a:ln w="19050">
            <a:solidFill>
              <a:srgbClr val="06B6D4"/>
            </a:solidFill>
            <a:prstDash val="solid"/>
          </a:ln>
        </p:spPr>
      </p:sp>
      <p:sp>
        <p:nvSpPr>
          <p:cNvPr id="7" name="Text 5"/>
          <p:cNvSpPr/>
          <p:nvPr/>
        </p:nvSpPr>
        <p:spPr>
          <a:xfrm>
            <a:off x="868680" y="1645920"/>
            <a:ext cx="2194560" cy="274320"/>
          </a:xfrm>
          <a:prstGeom prst="rect">
            <a:avLst/>
          </a:prstGeom>
          <a:noFill/>
          <a:ln/>
        </p:spPr>
        <p:txBody>
          <a:bodyPr wrap="square" rtlCol="0" anchor="ctr"/>
          <a:lstStyle/>
          <a:p>
            <a:pPr indent="0" marL="0">
              <a:buNone/>
            </a:pPr>
            <a:r>
              <a:rPr lang="en-US" sz="950" b="1" dirty="0">
                <a:solidFill>
                  <a:srgbClr val="06B6D4"/>
                </a:solidFill>
                <a:latin typeface="Courier New" pitchFamily="34" charset="0"/>
                <a:ea typeface="Courier New" pitchFamily="34" charset="-122"/>
                <a:cs typeface="Courier New" pitchFamily="34" charset="-120"/>
              </a:rPr>
              <a:t>LAYER 0-1</a:t>
            </a:r>
            <a:endParaRPr lang="en-US" sz="950" dirty="0"/>
          </a:p>
        </p:txBody>
      </p:sp>
      <p:sp>
        <p:nvSpPr>
          <p:cNvPr id="8" name="Text 6"/>
          <p:cNvSpPr/>
          <p:nvPr/>
        </p:nvSpPr>
        <p:spPr>
          <a:xfrm>
            <a:off x="868680" y="1965960"/>
            <a:ext cx="2194560" cy="4572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Perimeter &amp; Edge Proxy</a:t>
            </a:r>
            <a:endParaRPr lang="en-US" sz="1200" dirty="0"/>
          </a:p>
        </p:txBody>
      </p:sp>
      <p:sp>
        <p:nvSpPr>
          <p:cNvPr id="9" name="Text 7"/>
          <p:cNvSpPr/>
          <p:nvPr/>
        </p:nvSpPr>
        <p:spPr>
          <a:xfrm>
            <a:off x="868680" y="2468880"/>
            <a:ext cx="2194560" cy="2103120"/>
          </a:xfrm>
          <a:prstGeom prst="rect">
            <a:avLst/>
          </a:prstGeom>
          <a:noFill/>
          <a:ln/>
        </p:spPr>
        <p:txBody>
          <a:bodyPr wrap="square" rtlCol="0" anchor="ctr"/>
          <a:lstStyle/>
          <a:p>
            <a:pPr indent="0" marL="0">
              <a:lnSpc>
                <a:spcPts val="1400"/>
              </a:lnSpc>
              <a:buNone/>
            </a:pPr>
            <a:r>
              <a:rPr lang="en-US" sz="950" dirty="0">
                <a:solidFill>
                  <a:srgbClr val="94A3B8"/>
                </a:solidFill>
                <a:latin typeface="Arial" pitchFamily="34" charset="0"/>
                <a:ea typeface="Arial" pitchFamily="34" charset="-122"/>
                <a:cs typeface="Arial" pitchFamily="34" charset="-120"/>
              </a:rPr>
              <a:t>VPN Gateway Subnet CIDR, TLS 1.3, HSTS 2 Tahun, Rate Limit 5r/m &amp; 30r/s.</a:t>
            </a:r>
            <a:endParaRPr lang="en-US" sz="950" dirty="0"/>
          </a:p>
        </p:txBody>
      </p:sp>
      <p:sp>
        <p:nvSpPr>
          <p:cNvPr id="10" name="Shape 8"/>
          <p:cNvSpPr/>
          <p:nvPr/>
        </p:nvSpPr>
        <p:spPr>
          <a:xfrm>
            <a:off x="3474720" y="1463040"/>
            <a:ext cx="2468880" cy="3291840"/>
          </a:xfrm>
          <a:prstGeom prst="rect">
            <a:avLst/>
          </a:prstGeom>
          <a:solidFill>
            <a:srgbClr val="1E293B"/>
          </a:solidFill>
          <a:ln w="19050">
            <a:solidFill>
              <a:srgbClr val="10B981"/>
            </a:solidFill>
            <a:prstDash val="solid"/>
          </a:ln>
        </p:spPr>
      </p:sp>
      <p:sp>
        <p:nvSpPr>
          <p:cNvPr id="11" name="Text 9"/>
          <p:cNvSpPr/>
          <p:nvPr/>
        </p:nvSpPr>
        <p:spPr>
          <a:xfrm>
            <a:off x="3611880" y="1645920"/>
            <a:ext cx="2194560" cy="274320"/>
          </a:xfrm>
          <a:prstGeom prst="rect">
            <a:avLst/>
          </a:prstGeom>
          <a:noFill/>
          <a:ln/>
        </p:spPr>
        <p:txBody>
          <a:bodyPr wrap="square" rtlCol="0" anchor="ctr"/>
          <a:lstStyle/>
          <a:p>
            <a:pPr indent="0" marL="0">
              <a:buNone/>
            </a:pPr>
            <a:r>
              <a:rPr lang="en-US" sz="950" b="1" dirty="0">
                <a:solidFill>
                  <a:srgbClr val="10B981"/>
                </a:solidFill>
                <a:latin typeface="Courier New" pitchFamily="34" charset="0"/>
                <a:ea typeface="Courier New" pitchFamily="34" charset="-122"/>
                <a:cs typeface="Courier New" pitchFamily="34" charset="-120"/>
              </a:rPr>
              <a:t>LAYER 2-3</a:t>
            </a:r>
            <a:endParaRPr lang="en-US" sz="950" dirty="0"/>
          </a:p>
        </p:txBody>
      </p:sp>
      <p:sp>
        <p:nvSpPr>
          <p:cNvPr id="12" name="Text 10"/>
          <p:cNvSpPr/>
          <p:nvPr/>
        </p:nvSpPr>
        <p:spPr>
          <a:xfrm>
            <a:off x="3611880" y="1965960"/>
            <a:ext cx="2194560" cy="4572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Aplikasi &amp; Kriptografi</a:t>
            </a:r>
            <a:endParaRPr lang="en-US" sz="1200" dirty="0"/>
          </a:p>
        </p:txBody>
      </p:sp>
      <p:sp>
        <p:nvSpPr>
          <p:cNvPr id="13" name="Text 11"/>
          <p:cNvSpPr/>
          <p:nvPr/>
        </p:nvSpPr>
        <p:spPr>
          <a:xfrm>
            <a:off x="3611880" y="2468880"/>
            <a:ext cx="2194560" cy="2103120"/>
          </a:xfrm>
          <a:prstGeom prst="rect">
            <a:avLst/>
          </a:prstGeom>
          <a:noFill/>
          <a:ln/>
        </p:spPr>
        <p:txBody>
          <a:bodyPr wrap="square" rtlCol="0" anchor="ctr"/>
          <a:lstStyle/>
          <a:p>
            <a:pPr indent="0" marL="0">
              <a:lnSpc>
                <a:spcPts val="1400"/>
              </a:lnSpc>
              <a:buNone/>
            </a:pPr>
            <a:r>
              <a:rPr lang="en-US" sz="950" dirty="0">
                <a:solidFill>
                  <a:srgbClr val="94A3B8"/>
                </a:solidFill>
                <a:latin typeface="Arial" pitchFamily="34" charset="0"/>
                <a:ea typeface="Arial" pitchFamily="34" charset="-122"/>
                <a:cs typeface="Arial" pitchFamily="34" charset="-120"/>
              </a:rPr>
              <a:t>Sanitasi Input XSS, CSRF, AES-256-GCM NIK/NIP &amp; HMAC Blind Index.</a:t>
            </a:r>
            <a:endParaRPr lang="en-US" sz="950" dirty="0"/>
          </a:p>
        </p:txBody>
      </p:sp>
      <p:sp>
        <p:nvSpPr>
          <p:cNvPr id="14" name="Shape 12"/>
          <p:cNvSpPr/>
          <p:nvPr/>
        </p:nvSpPr>
        <p:spPr>
          <a:xfrm>
            <a:off x="6217920" y="1463040"/>
            <a:ext cx="2468880" cy="3291840"/>
          </a:xfrm>
          <a:prstGeom prst="rect">
            <a:avLst/>
          </a:prstGeom>
          <a:solidFill>
            <a:srgbClr val="1E293B"/>
          </a:solidFill>
          <a:ln w="19050">
            <a:solidFill>
              <a:srgbClr val="F59E0B"/>
            </a:solidFill>
            <a:prstDash val="solid"/>
          </a:ln>
        </p:spPr>
      </p:sp>
      <p:sp>
        <p:nvSpPr>
          <p:cNvPr id="15" name="Text 13"/>
          <p:cNvSpPr/>
          <p:nvPr/>
        </p:nvSpPr>
        <p:spPr>
          <a:xfrm>
            <a:off x="6355080" y="1645920"/>
            <a:ext cx="2194560" cy="274320"/>
          </a:xfrm>
          <a:prstGeom prst="rect">
            <a:avLst/>
          </a:prstGeom>
          <a:noFill/>
          <a:ln/>
        </p:spPr>
        <p:txBody>
          <a:bodyPr wrap="square" rtlCol="0" anchor="ctr"/>
          <a:lstStyle/>
          <a:p>
            <a:pPr indent="0" marL="0">
              <a:buNone/>
            </a:pPr>
            <a:r>
              <a:rPr lang="en-US" sz="950" b="1" dirty="0">
                <a:solidFill>
                  <a:srgbClr val="F59E0B"/>
                </a:solidFill>
                <a:latin typeface="Courier New" pitchFamily="34" charset="0"/>
                <a:ea typeface="Courier New" pitchFamily="34" charset="-122"/>
                <a:cs typeface="Courier New" pitchFamily="34" charset="-120"/>
              </a:rPr>
              <a:t>LAYER 4-5</a:t>
            </a:r>
            <a:endParaRPr lang="en-US" sz="950" dirty="0"/>
          </a:p>
        </p:txBody>
      </p:sp>
      <p:sp>
        <p:nvSpPr>
          <p:cNvPr id="16" name="Text 14"/>
          <p:cNvSpPr/>
          <p:nvPr/>
        </p:nvSpPr>
        <p:spPr>
          <a:xfrm>
            <a:off x="6355080" y="1965960"/>
            <a:ext cx="2194560" cy="4572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IAM &amp; Otorisasi</a:t>
            </a:r>
            <a:endParaRPr lang="en-US" sz="1200" dirty="0"/>
          </a:p>
        </p:txBody>
      </p:sp>
      <p:sp>
        <p:nvSpPr>
          <p:cNvPr id="17" name="Text 15"/>
          <p:cNvSpPr/>
          <p:nvPr/>
        </p:nvSpPr>
        <p:spPr>
          <a:xfrm>
            <a:off x="6355080" y="2468880"/>
            <a:ext cx="2194560" cy="2103120"/>
          </a:xfrm>
          <a:prstGeom prst="rect">
            <a:avLst/>
          </a:prstGeom>
          <a:noFill/>
          <a:ln/>
        </p:spPr>
        <p:txBody>
          <a:bodyPr wrap="square" rtlCol="0" anchor="ctr"/>
          <a:lstStyle/>
          <a:p>
            <a:pPr indent="0" marL="0">
              <a:lnSpc>
                <a:spcPts val="1400"/>
              </a:lnSpc>
              <a:buNone/>
            </a:pPr>
            <a:r>
              <a:rPr lang="en-US" sz="950" dirty="0">
                <a:solidFill>
                  <a:srgbClr val="94A3B8"/>
                </a:solidFill>
                <a:latin typeface="Arial" pitchFamily="34" charset="0"/>
                <a:ea typeface="Arial" pitchFamily="34" charset="-122"/>
                <a:cs typeface="Arial" pitchFamily="34" charset="-120"/>
              </a:rPr>
              <a:t>RFC 6238 TOTP MFA, 8 Backup Codes, Step-Up Auth &amp; Laravel Policies.</a:t>
            </a:r>
            <a:endParaRPr lang="en-US" sz="950" dirty="0"/>
          </a:p>
        </p:txBody>
      </p:sp>
      <p:sp>
        <p:nvSpPr>
          <p:cNvPr id="18" name="Shape 16"/>
          <p:cNvSpPr/>
          <p:nvPr/>
        </p:nvSpPr>
        <p:spPr>
          <a:xfrm>
            <a:off x="8961120" y="1463040"/>
            <a:ext cx="2468880" cy="3291840"/>
          </a:xfrm>
          <a:prstGeom prst="rect">
            <a:avLst/>
          </a:prstGeom>
          <a:solidFill>
            <a:srgbClr val="1E293B"/>
          </a:solidFill>
          <a:ln w="19050">
            <a:solidFill>
              <a:srgbClr val="0284C7"/>
            </a:solidFill>
            <a:prstDash val="solid"/>
          </a:ln>
        </p:spPr>
      </p:sp>
      <p:sp>
        <p:nvSpPr>
          <p:cNvPr id="19" name="Text 17"/>
          <p:cNvSpPr/>
          <p:nvPr/>
        </p:nvSpPr>
        <p:spPr>
          <a:xfrm>
            <a:off x="9098280" y="1645920"/>
            <a:ext cx="2194560" cy="274320"/>
          </a:xfrm>
          <a:prstGeom prst="rect">
            <a:avLst/>
          </a:prstGeom>
          <a:noFill/>
          <a:ln/>
        </p:spPr>
        <p:txBody>
          <a:bodyPr wrap="square" rtlCol="0" anchor="ctr"/>
          <a:lstStyle/>
          <a:p>
            <a:pPr indent="0" marL="0">
              <a:buNone/>
            </a:pPr>
            <a:r>
              <a:rPr lang="en-US" sz="950" b="1" dirty="0">
                <a:solidFill>
                  <a:srgbClr val="0284C7"/>
                </a:solidFill>
                <a:latin typeface="Courier New" pitchFamily="34" charset="0"/>
                <a:ea typeface="Courier New" pitchFamily="34" charset="-122"/>
                <a:cs typeface="Courier New" pitchFamily="34" charset="-120"/>
              </a:rPr>
              <a:t>LAYER 6-7</a:t>
            </a:r>
            <a:endParaRPr lang="en-US" sz="950" dirty="0"/>
          </a:p>
        </p:txBody>
      </p:sp>
      <p:sp>
        <p:nvSpPr>
          <p:cNvPr id="20" name="Text 18"/>
          <p:cNvSpPr/>
          <p:nvPr/>
        </p:nvSpPr>
        <p:spPr>
          <a:xfrm>
            <a:off x="9098280" y="1965960"/>
            <a:ext cx="2194560" cy="4572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Audit &amp; Kontainer</a:t>
            </a:r>
            <a:endParaRPr lang="en-US" sz="1200" dirty="0"/>
          </a:p>
        </p:txBody>
      </p:sp>
      <p:sp>
        <p:nvSpPr>
          <p:cNvPr id="21" name="Text 19"/>
          <p:cNvSpPr/>
          <p:nvPr/>
        </p:nvSpPr>
        <p:spPr>
          <a:xfrm>
            <a:off x="9098280" y="2468880"/>
            <a:ext cx="2194560" cy="2103120"/>
          </a:xfrm>
          <a:prstGeom prst="rect">
            <a:avLst/>
          </a:prstGeom>
          <a:noFill/>
          <a:ln/>
        </p:spPr>
        <p:txBody>
          <a:bodyPr wrap="square" rtlCol="0" anchor="ctr"/>
          <a:lstStyle/>
          <a:p>
            <a:pPr indent="0" marL="0">
              <a:lnSpc>
                <a:spcPts val="1400"/>
              </a:lnSpc>
              <a:buNone/>
            </a:pPr>
            <a:r>
              <a:rPr lang="en-US" sz="950" dirty="0">
                <a:solidFill>
                  <a:srgbClr val="94A3B8"/>
                </a:solidFill>
                <a:latin typeface="Arial" pitchFamily="34" charset="0"/>
                <a:ea typeface="Arial" pitchFamily="34" charset="-122"/>
                <a:cs typeface="Arial" pitchFamily="34" charset="-120"/>
              </a:rPr>
              <a:t>Redis Queue audit-logs, Partisi Bulanan PostgreSQL, Non-Root 1000:1000.</a:t>
            </a:r>
            <a:endParaRPr lang="en-US" sz="950" dirty="0"/>
          </a:p>
        </p:txBody>
      </p:sp>
      <p:sp>
        <p:nvSpPr>
          <p:cNvPr id="22" name="Shape 20"/>
          <p:cNvSpPr/>
          <p:nvPr/>
        </p:nvSpPr>
        <p:spPr>
          <a:xfrm>
            <a:off x="731520" y="4937760"/>
            <a:ext cx="10698480" cy="1280160"/>
          </a:xfrm>
          <a:prstGeom prst="rect">
            <a:avLst/>
          </a:prstGeom>
          <a:solidFill>
            <a:srgbClr val="1E293B"/>
          </a:solidFill>
          <a:ln w="12700">
            <a:solidFill>
              <a:srgbClr val="334155"/>
            </a:solidFill>
            <a:prstDash val="solid"/>
          </a:ln>
        </p:spPr>
      </p:sp>
      <p:sp>
        <p:nvSpPr>
          <p:cNvPr id="23" name="Text 21"/>
          <p:cNvSpPr/>
          <p:nvPr/>
        </p:nvSpPr>
        <p:spPr>
          <a:xfrm>
            <a:off x="914400" y="5074920"/>
            <a:ext cx="10332720" cy="1005840"/>
          </a:xfrm>
          <a:prstGeom prst="rect">
            <a:avLst/>
          </a:prstGeom>
          <a:noFill/>
          <a:ln/>
        </p:spPr>
        <p:txBody>
          <a:bodyPr wrap="square" rtlCol="0" anchor="ctr"/>
          <a:lstStyle/>
          <a:p>
            <a:pPr indent="0" marL="0">
              <a:lnSpc>
                <a:spcPts val="1500"/>
              </a:lnSpc>
              <a:buNone/>
            </a:pPr>
            <a:r>
              <a:rPr lang="en-US" sz="1000" b="1" dirty="0">
                <a:solidFill>
                  <a:srgbClr val="06B6D4"/>
                </a:solidFill>
                <a:latin typeface="Arial" pitchFamily="34" charset="0"/>
                <a:ea typeface="Arial" pitchFamily="34" charset="-122"/>
                <a:cs typeface="Arial" pitchFamily="34" charset="-120"/>
              </a:rPr>
              <a:t>Kriptografi Data Sensitif: </a:t>
            </a:r>
            <a:pPr indent="0" marL="0">
              <a:lnSpc>
                <a:spcPts val="1500"/>
              </a:lnSpc>
              <a:buNone/>
            </a:pPr>
            <a:r>
              <a:rPr lang="en-US" sz="900" dirty="0">
                <a:solidFill>
                  <a:srgbClr val="FFFFFF"/>
                </a:solidFill>
                <a:latin typeface="Courier New" pitchFamily="34" charset="0"/>
                <a:ea typeface="Courier New" pitchFamily="34" charset="-122"/>
                <a:cs typeface="Courier New" pitchFamily="34" charset="-120"/>
              </a:rPr>
              <a:t>nik = AES-256-GCM(plaintext, IV, Tag)  |  nik_hash = HMAC-SHA256(plaintext, APP_KEY)
</a:t>
            </a:r>
            <a:pPr indent="0" marL="0">
              <a:lnSpc>
                <a:spcPts val="1500"/>
              </a:lnSpc>
              <a:buNone/>
            </a:pPr>
            <a:r>
              <a:rPr lang="en-US" sz="1000" b="1" dirty="0">
                <a:solidFill>
                  <a:srgbClr val="F59E0B"/>
                </a:solidFill>
                <a:latin typeface="Arial" pitchFamily="34" charset="0"/>
                <a:ea typeface="Arial" pitchFamily="34" charset="-122"/>
                <a:cs typeface="Arial" pitchFamily="34" charset="-120"/>
              </a:rPr>
              <a:t>Proteksi Akun Superadmin: </a:t>
            </a:r>
            <a:pPr indent="0" marL="0">
              <a:lnSpc>
                <a:spcPts val="1500"/>
              </a:lnSpc>
              <a:buNone/>
            </a:pPr>
            <a:r>
              <a:rPr lang="en-US" sz="950" dirty="0">
                <a:solidFill>
                  <a:srgbClr val="FFFFFF"/>
                </a:solidFill>
                <a:latin typeface="Arial" pitchFamily="34" charset="0"/>
                <a:ea typeface="Arial" pitchFamily="34" charset="-122"/>
                <a:cs typeface="Arial" pitchFamily="34" charset="-120"/>
              </a:rPr>
              <a:t>Lockout progresif (5x gagal), TOTP MFA Google Authenticator, dan konfirmasi kata sandi saat mematikan MFA.</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10. EFISIENSI &amp; SKALABILITAS</a:t>
            </a:r>
            <a:endParaRPr lang="en-US" sz="1000" dirty="0"/>
          </a:p>
        </p:txBody>
      </p:sp>
      <p:sp>
        <p:nvSpPr>
          <p:cNvPr id="3" name="Text 1"/>
          <p:cNvSpPr/>
          <p:nvPr/>
        </p:nvSpPr>
        <p:spPr>
          <a:xfrm>
            <a:off x="731520" y="594360"/>
            <a:ext cx="10515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Database Cursor Streaming Mass Export Engine</a:t>
            </a:r>
            <a:endParaRPr lang="en-US" sz="2000" dirty="0"/>
          </a:p>
        </p:txBody>
      </p:sp>
      <p:sp>
        <p:nvSpPr>
          <p:cNvPr id="4" name="Shape 2"/>
          <p:cNvSpPr/>
          <p:nvPr/>
        </p:nvSpPr>
        <p:spPr>
          <a:xfrm>
            <a:off x="731520" y="1143000"/>
            <a:ext cx="10698480" cy="0"/>
          </a:xfrm>
          <a:prstGeom prst="line">
            <a:avLst/>
          </a:prstGeom>
          <a:noFill/>
          <a:ln w="12700">
            <a:solidFill>
              <a:srgbClr val="334155"/>
            </a:solidFill>
            <a:prstDash val="solid"/>
          </a:ln>
        </p:spPr>
      </p:sp>
      <p:sp>
        <p:nvSpPr>
          <p:cNvPr id="5" name="Text 3"/>
          <p:cNvSpPr/>
          <p:nvPr/>
        </p:nvSpPr>
        <p:spPr>
          <a:xfrm>
            <a:off x="731520" y="6492240"/>
            <a:ext cx="9144000"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DISKOMINFO / BIDANG PERSANDIAN KOTA CIREBON • SISTEM MONITORING TTE V4.1</a:t>
            </a:r>
            <a:endParaRPr lang="en-US" sz="900" dirty="0"/>
          </a:p>
        </p:txBody>
      </p:sp>
      <p:sp>
        <p:nvSpPr>
          <p:cNvPr id="6" name="Shape 4"/>
          <p:cNvSpPr/>
          <p:nvPr/>
        </p:nvSpPr>
        <p:spPr>
          <a:xfrm>
            <a:off x="731520" y="1463040"/>
            <a:ext cx="5120640" cy="4754880"/>
          </a:xfrm>
          <a:prstGeom prst="rect">
            <a:avLst/>
          </a:prstGeom>
          <a:solidFill>
            <a:srgbClr val="1E293B"/>
          </a:solidFill>
          <a:ln w="19050">
            <a:solidFill>
              <a:srgbClr val="F43F5E"/>
            </a:solidFill>
            <a:prstDash val="solid"/>
          </a:ln>
        </p:spPr>
      </p:sp>
      <p:sp>
        <p:nvSpPr>
          <p:cNvPr id="7" name="Text 5"/>
          <p:cNvSpPr/>
          <p:nvPr/>
        </p:nvSpPr>
        <p:spPr>
          <a:xfrm>
            <a:off x="914400" y="1645920"/>
            <a:ext cx="4754880" cy="365760"/>
          </a:xfrm>
          <a:prstGeom prst="rect">
            <a:avLst/>
          </a:prstGeom>
          <a:noFill/>
          <a:ln/>
        </p:spPr>
        <p:txBody>
          <a:bodyPr wrap="square" rtlCol="0" anchor="ctr"/>
          <a:lstStyle/>
          <a:p>
            <a:pPr indent="0" marL="0">
              <a:buNone/>
            </a:pPr>
            <a:r>
              <a:rPr lang="en-US" sz="1400" b="1" dirty="0">
                <a:solidFill>
                  <a:srgbClr val="F43F5E"/>
                </a:solidFill>
                <a:latin typeface="Arial" pitchFamily="34" charset="0"/>
                <a:ea typeface="Arial" pitchFamily="34" charset="-122"/>
                <a:cs typeface="Arial" pitchFamily="34" charset="-120"/>
              </a:rPr>
              <a:t>❌ Ekspor Tradisional (Bahaya OOM)</a:t>
            </a:r>
            <a:endParaRPr lang="en-US" sz="1400" dirty="0"/>
          </a:p>
        </p:txBody>
      </p:sp>
      <p:sp>
        <p:nvSpPr>
          <p:cNvPr id="8" name="Text 6"/>
          <p:cNvSpPr/>
          <p:nvPr/>
        </p:nvSpPr>
        <p:spPr>
          <a:xfrm>
            <a:off x="914400" y="2103120"/>
            <a:ext cx="4754880" cy="3931920"/>
          </a:xfrm>
          <a:prstGeom prst="rect">
            <a:avLst/>
          </a:prstGeom>
          <a:noFill/>
          <a:ln/>
        </p:spPr>
        <p:txBody>
          <a:bodyPr wrap="square" rtlCol="0" anchor="ctr"/>
          <a:lstStyle/>
          <a:p>
            <a:pPr indent="0" marL="0">
              <a:lnSpc>
                <a:spcPts val="1600"/>
              </a:lnSpc>
              <a:buNone/>
            </a:pPr>
            <a:r>
              <a:rPr lang="en-US" sz="1000" b="1" dirty="0">
                <a:solidFill>
                  <a:srgbClr val="FFFFFF"/>
                </a:solidFill>
                <a:latin typeface="Arial" pitchFamily="34" charset="0"/>
                <a:ea typeface="Arial" pitchFamily="34" charset="-122"/>
                <a:cs typeface="Arial" pitchFamily="34" charset="-120"/>
              </a:rPr>
              <a:t>• Memuat Seluruh Data ke RAM:
</a:t>
            </a:r>
            <a:pPr indent="0" marL="0">
              <a:lnSpc>
                <a:spcPts val="1600"/>
              </a:lnSpc>
              <a:buNone/>
            </a:pPr>
            <a:r>
              <a:rPr lang="en-US" sz="1000" dirty="0">
                <a:solidFill>
                  <a:srgbClr val="94A3B8"/>
                </a:solidFill>
                <a:latin typeface="Arial" pitchFamily="34" charset="0"/>
                <a:ea typeface="Arial" pitchFamily="34" charset="-122"/>
                <a:cs typeface="Arial" pitchFamily="34" charset="-120"/>
              </a:rPr>
              <a:t>  Metode Eloquent PendaftaranTte::with(...)-&gt;get() memuat ratusan ribu objek ke memori PHP.
</a:t>
            </a:r>
            <a:pPr indent="0" marL="0">
              <a:lnSpc>
                <a:spcPts val="1600"/>
              </a:lnSpc>
              <a:buNone/>
            </a:pPr>
            <a:r>
              <a:rPr lang="en-US" sz="1000" b="1" dirty="0">
                <a:solidFill>
                  <a:srgbClr val="FFFFFF"/>
                </a:solidFill>
                <a:latin typeface="Arial" pitchFamily="34" charset="0"/>
                <a:ea typeface="Arial" pitchFamily="34" charset="-122"/>
                <a:cs typeface="Arial" pitchFamily="34" charset="-120"/>
              </a:rPr>
              <a:t>• Konsumsi RAM Membengkak:
</a:t>
            </a:r>
            <a:pPr indent="0" marL="0">
              <a:lnSpc>
                <a:spcPts val="1600"/>
              </a:lnSpc>
              <a:buNone/>
            </a:pPr>
            <a:r>
              <a:rPr lang="en-US" sz="1000" dirty="0">
                <a:solidFill>
                  <a:srgbClr val="94A3B8"/>
                </a:solidFill>
                <a:latin typeface="Arial" pitchFamily="34" charset="0"/>
                <a:ea typeface="Arial" pitchFamily="34" charset="-122"/>
                <a:cs typeface="Arial" pitchFamily="34" charset="-120"/>
              </a:rPr>
              <a:t>  Membutuhkan 500 MB – 1 GB RAM, memicu Fatal Error: Allowed memory size exhausted.
</a:t>
            </a:r>
            <a:pPr indent="0" marL="0">
              <a:lnSpc>
                <a:spcPts val="1600"/>
              </a:lnSpc>
              <a:buNone/>
            </a:pPr>
            <a:r>
              <a:rPr lang="en-US" sz="1000" b="1" dirty="0">
                <a:solidFill>
                  <a:srgbClr val="FFFFFF"/>
                </a:solidFill>
                <a:latin typeface="Arial" pitchFamily="34" charset="0"/>
                <a:ea typeface="Arial" pitchFamily="34" charset="-122"/>
                <a:cs typeface="Arial" pitchFamily="34" charset="-120"/>
              </a:rPr>
              <a:t>• Badai Kueri N+1:
</a:t>
            </a:r>
            <a:pPr indent="0" marL="0">
              <a:lnSpc>
                <a:spcPts val="1600"/>
              </a:lnSpc>
              <a:buNone/>
            </a:pPr>
            <a:r>
              <a:rPr lang="en-US" sz="1000" dirty="0">
                <a:solidFill>
                  <a:srgbClr val="94A3B8"/>
                </a:solidFill>
                <a:latin typeface="Arial" pitchFamily="34" charset="0"/>
                <a:ea typeface="Arial" pitchFamily="34" charset="-122"/>
                <a:cs typeface="Arial" pitchFamily="34" charset="-120"/>
              </a:rPr>
              <a:t>  Lazy loading relasi SKPD/Jabatan mengeksekusi ribuan query tambahan ke database.</a:t>
            </a:r>
            <a:endParaRPr lang="en-US" sz="1000" dirty="0"/>
          </a:p>
        </p:txBody>
      </p:sp>
      <p:sp>
        <p:nvSpPr>
          <p:cNvPr id="9" name="Shape 7"/>
          <p:cNvSpPr/>
          <p:nvPr/>
        </p:nvSpPr>
        <p:spPr>
          <a:xfrm>
            <a:off x="6217920" y="1463040"/>
            <a:ext cx="5212080" cy="4754880"/>
          </a:xfrm>
          <a:prstGeom prst="rect">
            <a:avLst/>
          </a:prstGeom>
          <a:solidFill>
            <a:srgbClr val="1E293B"/>
          </a:solidFill>
          <a:ln w="19050">
            <a:solidFill>
              <a:srgbClr val="10B981"/>
            </a:solidFill>
            <a:prstDash val="solid"/>
          </a:ln>
        </p:spPr>
      </p:sp>
      <p:sp>
        <p:nvSpPr>
          <p:cNvPr id="10" name="Text 8"/>
          <p:cNvSpPr/>
          <p:nvPr/>
        </p:nvSpPr>
        <p:spPr>
          <a:xfrm>
            <a:off x="6400800" y="1645920"/>
            <a:ext cx="4846320" cy="365760"/>
          </a:xfrm>
          <a:prstGeom prst="rect">
            <a:avLst/>
          </a:prstGeom>
          <a:noFill/>
          <a:ln/>
        </p:spPr>
        <p:txBody>
          <a:bodyPr wrap="square" rtlCol="0" anchor="ctr"/>
          <a:lstStyle/>
          <a:p>
            <a:pPr indent="0" marL="0">
              <a:buNone/>
            </a:pPr>
            <a:r>
              <a:rPr lang="en-US" sz="1400" b="1" dirty="0">
                <a:solidFill>
                  <a:srgbClr val="10B981"/>
                </a:solidFill>
                <a:latin typeface="Arial" pitchFamily="34" charset="0"/>
                <a:ea typeface="Arial" pitchFamily="34" charset="-122"/>
                <a:cs typeface="Arial" pitchFamily="34" charset="-120"/>
              </a:rPr>
              <a:t>✅ Cursor Streaming Terpadu (Sistem V4.1)</a:t>
            </a:r>
            <a:endParaRPr lang="en-US" sz="1400" dirty="0"/>
          </a:p>
        </p:txBody>
      </p:sp>
      <p:sp>
        <p:nvSpPr>
          <p:cNvPr id="11" name="Text 9"/>
          <p:cNvSpPr/>
          <p:nvPr/>
        </p:nvSpPr>
        <p:spPr>
          <a:xfrm>
            <a:off x="6400800" y="2103120"/>
            <a:ext cx="4846320" cy="3931920"/>
          </a:xfrm>
          <a:prstGeom prst="rect">
            <a:avLst/>
          </a:prstGeom>
          <a:noFill/>
          <a:ln/>
        </p:spPr>
        <p:txBody>
          <a:bodyPr wrap="square" rtlCol="0" anchor="ctr"/>
          <a:lstStyle/>
          <a:p>
            <a:pPr indent="0" marL="0">
              <a:lnSpc>
                <a:spcPts val="1500"/>
              </a:lnSpc>
              <a:buNone/>
            </a:pPr>
            <a:r>
              <a:rPr lang="en-US" sz="1000" b="1" dirty="0">
                <a:solidFill>
                  <a:srgbClr val="FFFFFF"/>
                </a:solidFill>
                <a:latin typeface="Arial" pitchFamily="34" charset="0"/>
                <a:ea typeface="Arial" pitchFamily="34" charset="-122"/>
                <a:cs typeface="Arial" pitchFamily="34" charset="-120"/>
              </a:rPr>
              <a:t>• Kueri Tunggal Join Terpadu:
</a:t>
            </a:r>
            <a:pPr indent="0" marL="0">
              <a:lnSpc>
                <a:spcPts val="1500"/>
              </a:lnSpc>
              <a:buNone/>
            </a:pPr>
            <a:r>
              <a:rPr lang="en-US" sz="1000" dirty="0">
                <a:solidFill>
                  <a:srgbClr val="94A3B8"/>
                </a:solidFill>
                <a:latin typeface="Arial" pitchFamily="34" charset="0"/>
                <a:ea typeface="Arial" pitchFamily="34" charset="-122"/>
                <a:cs typeface="Arial" pitchFamily="34" charset="-120"/>
              </a:rPr>
              <a:t>  DB::table()-&gt;leftJoin()-&gt;cursor() berjalan dalam 1 kueri tunggal bebas N+1 query.
</a:t>
            </a:r>
            <a:pPr indent="0" marL="0">
              <a:lnSpc>
                <a:spcPts val="1500"/>
              </a:lnSpc>
              <a:buNone/>
            </a:pPr>
            <a:r>
              <a:rPr lang="en-US" sz="1000" b="1" dirty="0">
                <a:solidFill>
                  <a:srgbClr val="FFFFFF"/>
                </a:solidFill>
                <a:latin typeface="Arial" pitchFamily="34" charset="0"/>
                <a:ea typeface="Arial" pitchFamily="34" charset="-122"/>
                <a:cs typeface="Arial" pitchFamily="34" charset="-120"/>
              </a:rPr>
              <a:t>• Konsumsi RAM Konstan &lt; 20 MB:
</a:t>
            </a:r>
            <a:pPr indent="0" marL="0">
              <a:lnSpc>
                <a:spcPts val="1500"/>
              </a:lnSpc>
              <a:buNone/>
            </a:pPr>
            <a:r>
              <a:rPr lang="en-US" sz="1000" dirty="0">
                <a:solidFill>
                  <a:srgbClr val="94A3B8"/>
                </a:solidFill>
                <a:latin typeface="Arial" pitchFamily="34" charset="0"/>
                <a:ea typeface="Arial" pitchFamily="34" charset="-122"/>
                <a:cs typeface="Arial" pitchFamily="34" charset="-120"/>
              </a:rPr>
              <a:t>  Mengalirkan data baris demi baris via php://output langsung ke browser pemohon.
</a:t>
            </a:r>
            <a:pPr indent="0" marL="0">
              <a:lnSpc>
                <a:spcPts val="1500"/>
              </a:lnSpc>
              <a:buNone/>
            </a:pPr>
            <a:r>
              <a:rPr lang="en-US" sz="1000" b="1" dirty="0">
                <a:solidFill>
                  <a:srgbClr val="FFFFFF"/>
                </a:solidFill>
                <a:latin typeface="Arial" pitchFamily="34" charset="0"/>
                <a:ea typeface="Arial" pitchFamily="34" charset="-122"/>
                <a:cs typeface="Arial" pitchFamily="34" charset="-120"/>
              </a:rPr>
              <a:t>• Nginx FastCGI Unbuffered:
</a:t>
            </a:r>
            <a:pPr indent="0" marL="0">
              <a:lnSpc>
                <a:spcPts val="1500"/>
              </a:lnSpc>
              <a:buNone/>
            </a:pPr>
            <a:r>
              <a:rPr lang="en-US" sz="1000" dirty="0">
                <a:solidFill>
                  <a:srgbClr val="94A3B8"/>
                </a:solidFill>
                <a:latin typeface="Arial" pitchFamily="34" charset="0"/>
                <a:ea typeface="Arial" pitchFamily="34" charset="-122"/>
                <a:cs typeface="Arial" pitchFamily="34" charset="-120"/>
              </a:rPr>
              <a:t>  fastcgi_buffering off; pada /admin/export/ menjamin aliran data CSV tidak tertahan di buffer.
</a:t>
            </a:r>
            <a:pPr indent="0" marL="0">
              <a:lnSpc>
                <a:spcPts val="1500"/>
              </a:lnSpc>
              <a:buNone/>
            </a:pPr>
            <a:r>
              <a:rPr lang="en-US" sz="1000" b="1" dirty="0">
                <a:solidFill>
                  <a:srgbClr val="FFFFFF"/>
                </a:solidFill>
                <a:latin typeface="Arial" pitchFamily="34" charset="0"/>
                <a:ea typeface="Arial" pitchFamily="34" charset="-122"/>
                <a:cs typeface="Arial" pitchFamily="34" charset="-120"/>
              </a:rPr>
              <a:t>• UTF-8 BOM Header (\xEF\xBB\xBF):
</a:t>
            </a:r>
            <a:pPr indent="0" marL="0">
              <a:lnSpc>
                <a:spcPts val="1500"/>
              </a:lnSpc>
              <a:buNone/>
            </a:pPr>
            <a:r>
              <a:rPr lang="en-US" sz="1000" dirty="0">
                <a:solidFill>
                  <a:srgbClr val="94A3B8"/>
                </a:solidFill>
                <a:latin typeface="Arial" pitchFamily="34" charset="0"/>
                <a:ea typeface="Arial" pitchFamily="34" charset="-122"/>
                <a:cs typeface="Arial" pitchFamily="34" charset="-120"/>
              </a:rPr>
              <a:t>  Karakter aksen/khusus terbaca sempurna di Microsoft Excel.</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11. STRUKTUR DATA &amp; PARTISI</a:t>
            </a:r>
            <a:endParaRPr lang="en-US" sz="1000" dirty="0"/>
          </a:p>
        </p:txBody>
      </p:sp>
      <p:sp>
        <p:nvSpPr>
          <p:cNvPr id="3" name="Text 1"/>
          <p:cNvSpPr/>
          <p:nvPr/>
        </p:nvSpPr>
        <p:spPr>
          <a:xfrm>
            <a:off x="731520" y="594360"/>
            <a:ext cx="10515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Struktur Basis Data PostgreSQL 16 (8 Skema Normalisasi)</a:t>
            </a:r>
            <a:endParaRPr lang="en-US" sz="2000" dirty="0"/>
          </a:p>
        </p:txBody>
      </p:sp>
      <p:sp>
        <p:nvSpPr>
          <p:cNvPr id="4" name="Shape 2"/>
          <p:cNvSpPr/>
          <p:nvPr/>
        </p:nvSpPr>
        <p:spPr>
          <a:xfrm>
            <a:off x="731520" y="1143000"/>
            <a:ext cx="10698480" cy="0"/>
          </a:xfrm>
          <a:prstGeom prst="line">
            <a:avLst/>
          </a:prstGeom>
          <a:noFill/>
          <a:ln w="12700">
            <a:solidFill>
              <a:srgbClr val="334155"/>
            </a:solidFill>
            <a:prstDash val="solid"/>
          </a:ln>
        </p:spPr>
      </p:sp>
      <p:sp>
        <p:nvSpPr>
          <p:cNvPr id="5" name="Text 3"/>
          <p:cNvSpPr/>
          <p:nvPr/>
        </p:nvSpPr>
        <p:spPr>
          <a:xfrm>
            <a:off x="731520" y="6492240"/>
            <a:ext cx="9144000"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DISKOMINFO / BIDANG PERSANDIAN KOTA CIREBON • SISTEM MONITORING TTE V4.1</a:t>
            </a:r>
            <a:endParaRPr lang="en-US" sz="900" dirty="0"/>
          </a:p>
        </p:txBody>
      </p:sp>
      <p:sp>
        <p:nvSpPr>
          <p:cNvPr id="6" name="Shape 4"/>
          <p:cNvSpPr/>
          <p:nvPr/>
        </p:nvSpPr>
        <p:spPr>
          <a:xfrm>
            <a:off x="731520" y="1463040"/>
            <a:ext cx="2468880" cy="1463040"/>
          </a:xfrm>
          <a:prstGeom prst="rect">
            <a:avLst/>
          </a:prstGeom>
          <a:solidFill>
            <a:srgbClr val="1E293B"/>
          </a:solidFill>
          <a:ln w="19050">
            <a:solidFill>
              <a:srgbClr val="06B6D4"/>
            </a:solidFill>
            <a:prstDash val="solid"/>
          </a:ln>
        </p:spPr>
      </p:sp>
      <p:sp>
        <p:nvSpPr>
          <p:cNvPr id="7" name="Text 5"/>
          <p:cNvSpPr/>
          <p:nvPr/>
        </p:nvSpPr>
        <p:spPr>
          <a:xfrm>
            <a:off x="868680" y="1645920"/>
            <a:ext cx="2194560" cy="27432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1. skpd</a:t>
            </a:r>
            <a:endParaRPr lang="en-US" sz="1050" dirty="0"/>
          </a:p>
        </p:txBody>
      </p:sp>
      <p:sp>
        <p:nvSpPr>
          <p:cNvPr id="8" name="Text 6"/>
          <p:cNvSpPr/>
          <p:nvPr/>
        </p:nvSpPr>
        <p:spPr>
          <a:xfrm>
            <a:off x="868680" y="1965960"/>
            <a:ext cx="2194560" cy="822960"/>
          </a:xfrm>
          <a:prstGeom prst="rect">
            <a:avLst/>
          </a:prstGeom>
          <a:noFill/>
          <a:ln/>
        </p:spPr>
        <p:txBody>
          <a:bodyPr wrap="square" rtlCol="0" anchor="ctr"/>
          <a:lstStyle/>
          <a:p>
            <a:pPr indent="0" marL="0">
              <a:lnSpc>
                <a:spcPts val="1300"/>
              </a:lnSpc>
              <a:buNone/>
            </a:pPr>
            <a:r>
              <a:rPr lang="en-US" sz="900" dirty="0">
                <a:solidFill>
                  <a:srgbClr val="94A3B8"/>
                </a:solidFill>
                <a:latin typeface="Arial" pitchFamily="34" charset="0"/>
                <a:ea typeface="Arial" pitchFamily="34" charset="-122"/>
                <a:cs typeface="Arial" pitchFamily="34" charset="-120"/>
              </a:rPr>
              <a:t>Master 20 unit kerja Pemkot Cirebon.</a:t>
            </a:r>
            <a:endParaRPr lang="en-US" sz="900" dirty="0"/>
          </a:p>
        </p:txBody>
      </p:sp>
      <p:sp>
        <p:nvSpPr>
          <p:cNvPr id="9" name="Shape 7"/>
          <p:cNvSpPr/>
          <p:nvPr/>
        </p:nvSpPr>
        <p:spPr>
          <a:xfrm>
            <a:off x="3474720" y="1463040"/>
            <a:ext cx="2468880" cy="1463040"/>
          </a:xfrm>
          <a:prstGeom prst="rect">
            <a:avLst/>
          </a:prstGeom>
          <a:solidFill>
            <a:srgbClr val="1E293B"/>
          </a:solidFill>
          <a:ln w="19050">
            <a:solidFill>
              <a:srgbClr val="06B6D4"/>
            </a:solidFill>
            <a:prstDash val="solid"/>
          </a:ln>
        </p:spPr>
      </p:sp>
      <p:sp>
        <p:nvSpPr>
          <p:cNvPr id="10" name="Text 8"/>
          <p:cNvSpPr/>
          <p:nvPr/>
        </p:nvSpPr>
        <p:spPr>
          <a:xfrm>
            <a:off x="3611880" y="1645920"/>
            <a:ext cx="2194560" cy="27432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2. master_jabatan_golongan</a:t>
            </a:r>
            <a:endParaRPr lang="en-US" sz="1050" dirty="0"/>
          </a:p>
        </p:txBody>
      </p:sp>
      <p:sp>
        <p:nvSpPr>
          <p:cNvPr id="11" name="Text 9"/>
          <p:cNvSpPr/>
          <p:nvPr/>
        </p:nvSpPr>
        <p:spPr>
          <a:xfrm>
            <a:off x="3611880" y="1965960"/>
            <a:ext cx="2194560" cy="822960"/>
          </a:xfrm>
          <a:prstGeom prst="rect">
            <a:avLst/>
          </a:prstGeom>
          <a:noFill/>
          <a:ln/>
        </p:spPr>
        <p:txBody>
          <a:bodyPr wrap="square" rtlCol="0" anchor="ctr"/>
          <a:lstStyle/>
          <a:p>
            <a:pPr indent="0" marL="0">
              <a:lnSpc>
                <a:spcPts val="1300"/>
              </a:lnSpc>
              <a:buNone/>
            </a:pPr>
            <a:r>
              <a:rPr lang="en-US" sz="900" dirty="0">
                <a:solidFill>
                  <a:srgbClr val="94A3B8"/>
                </a:solidFill>
                <a:latin typeface="Arial" pitchFamily="34" charset="0"/>
                <a:ea typeface="Arial" pitchFamily="34" charset="-122"/>
                <a:cs typeface="Arial" pitchFamily="34" charset="-120"/>
              </a:rPr>
              <a:t>Standarisasi jabatan &amp; golongan ASN.</a:t>
            </a:r>
            <a:endParaRPr lang="en-US" sz="900" dirty="0"/>
          </a:p>
        </p:txBody>
      </p:sp>
      <p:sp>
        <p:nvSpPr>
          <p:cNvPr id="12" name="Shape 10"/>
          <p:cNvSpPr/>
          <p:nvPr/>
        </p:nvSpPr>
        <p:spPr>
          <a:xfrm>
            <a:off x="6217920" y="1463040"/>
            <a:ext cx="2468880" cy="1463040"/>
          </a:xfrm>
          <a:prstGeom prst="rect">
            <a:avLst/>
          </a:prstGeom>
          <a:solidFill>
            <a:srgbClr val="1E293B"/>
          </a:solidFill>
          <a:ln w="19050">
            <a:solidFill>
              <a:srgbClr val="06B6D4"/>
            </a:solidFill>
            <a:prstDash val="solid"/>
          </a:ln>
        </p:spPr>
      </p:sp>
      <p:sp>
        <p:nvSpPr>
          <p:cNvPr id="13" name="Text 11"/>
          <p:cNvSpPr/>
          <p:nvPr/>
        </p:nvSpPr>
        <p:spPr>
          <a:xfrm>
            <a:off x="6355080" y="1645920"/>
            <a:ext cx="2194560" cy="27432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3. users</a:t>
            </a:r>
            <a:endParaRPr lang="en-US" sz="1050" dirty="0"/>
          </a:p>
        </p:txBody>
      </p:sp>
      <p:sp>
        <p:nvSpPr>
          <p:cNvPr id="14" name="Text 12"/>
          <p:cNvSpPr/>
          <p:nvPr/>
        </p:nvSpPr>
        <p:spPr>
          <a:xfrm>
            <a:off x="6355080" y="1965960"/>
            <a:ext cx="2194560" cy="822960"/>
          </a:xfrm>
          <a:prstGeom prst="rect">
            <a:avLst/>
          </a:prstGeom>
          <a:noFill/>
          <a:ln/>
        </p:spPr>
        <p:txBody>
          <a:bodyPr wrap="square" rtlCol="0" anchor="ctr"/>
          <a:lstStyle/>
          <a:p>
            <a:pPr indent="0" marL="0">
              <a:lnSpc>
                <a:spcPts val="1300"/>
              </a:lnSpc>
              <a:buNone/>
            </a:pPr>
            <a:r>
              <a:rPr lang="en-US" sz="900" dirty="0">
                <a:solidFill>
                  <a:srgbClr val="94A3B8"/>
                </a:solidFill>
                <a:latin typeface="Arial" pitchFamily="34" charset="0"/>
                <a:ea typeface="Arial" pitchFamily="34" charset="-122"/>
                <a:cs typeface="Arial" pitchFamily="34" charset="-120"/>
              </a:rPr>
              <a:t>IAM Superadmin + MFA &amp; recovery codes.</a:t>
            </a:r>
            <a:endParaRPr lang="en-US" sz="900" dirty="0"/>
          </a:p>
        </p:txBody>
      </p:sp>
      <p:sp>
        <p:nvSpPr>
          <p:cNvPr id="15" name="Shape 13"/>
          <p:cNvSpPr/>
          <p:nvPr/>
        </p:nvSpPr>
        <p:spPr>
          <a:xfrm>
            <a:off x="8961120" y="1463040"/>
            <a:ext cx="2468880" cy="1463040"/>
          </a:xfrm>
          <a:prstGeom prst="rect">
            <a:avLst/>
          </a:prstGeom>
          <a:solidFill>
            <a:srgbClr val="1E293B"/>
          </a:solidFill>
          <a:ln w="19050">
            <a:solidFill>
              <a:srgbClr val="06B6D4"/>
            </a:solidFill>
            <a:prstDash val="solid"/>
          </a:ln>
        </p:spPr>
      </p:sp>
      <p:sp>
        <p:nvSpPr>
          <p:cNvPr id="16" name="Text 14"/>
          <p:cNvSpPr/>
          <p:nvPr/>
        </p:nvSpPr>
        <p:spPr>
          <a:xfrm>
            <a:off x="9098280" y="1645920"/>
            <a:ext cx="2194560" cy="27432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4. sessions</a:t>
            </a:r>
            <a:endParaRPr lang="en-US" sz="1050" dirty="0"/>
          </a:p>
        </p:txBody>
      </p:sp>
      <p:sp>
        <p:nvSpPr>
          <p:cNvPr id="17" name="Text 15"/>
          <p:cNvSpPr/>
          <p:nvPr/>
        </p:nvSpPr>
        <p:spPr>
          <a:xfrm>
            <a:off x="9098280" y="1965960"/>
            <a:ext cx="2194560" cy="822960"/>
          </a:xfrm>
          <a:prstGeom prst="rect">
            <a:avLst/>
          </a:prstGeom>
          <a:noFill/>
          <a:ln/>
        </p:spPr>
        <p:txBody>
          <a:bodyPr wrap="square" rtlCol="0" anchor="ctr"/>
          <a:lstStyle/>
          <a:p>
            <a:pPr indent="0" marL="0">
              <a:lnSpc>
                <a:spcPts val="1300"/>
              </a:lnSpc>
              <a:buNone/>
            </a:pPr>
            <a:r>
              <a:rPr lang="en-US" sz="900" dirty="0">
                <a:solidFill>
                  <a:srgbClr val="94A3B8"/>
                </a:solidFill>
                <a:latin typeface="Arial" pitchFamily="34" charset="0"/>
                <a:ea typeface="Arial" pitchFamily="34" charset="-122"/>
                <a:cs typeface="Arial" pitchFamily="34" charset="-120"/>
              </a:rPr>
              <a:t>Penyimpanan sesi login database.</a:t>
            </a:r>
            <a:endParaRPr lang="en-US" sz="900" dirty="0"/>
          </a:p>
        </p:txBody>
      </p:sp>
      <p:sp>
        <p:nvSpPr>
          <p:cNvPr id="18" name="Shape 16"/>
          <p:cNvSpPr/>
          <p:nvPr/>
        </p:nvSpPr>
        <p:spPr>
          <a:xfrm>
            <a:off x="731520" y="3108960"/>
            <a:ext cx="2468880" cy="1463040"/>
          </a:xfrm>
          <a:prstGeom prst="rect">
            <a:avLst/>
          </a:prstGeom>
          <a:solidFill>
            <a:srgbClr val="1E293B"/>
          </a:solidFill>
          <a:ln w="19050">
            <a:solidFill>
              <a:srgbClr val="10B981"/>
            </a:solidFill>
            <a:prstDash val="solid"/>
          </a:ln>
        </p:spPr>
      </p:sp>
      <p:sp>
        <p:nvSpPr>
          <p:cNvPr id="19" name="Text 17"/>
          <p:cNvSpPr/>
          <p:nvPr/>
        </p:nvSpPr>
        <p:spPr>
          <a:xfrm>
            <a:off x="868680" y="3291840"/>
            <a:ext cx="2194560" cy="27432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5. pendaftaran_tte</a:t>
            </a:r>
            <a:endParaRPr lang="en-US" sz="1050" dirty="0"/>
          </a:p>
        </p:txBody>
      </p:sp>
      <p:sp>
        <p:nvSpPr>
          <p:cNvPr id="20" name="Text 18"/>
          <p:cNvSpPr/>
          <p:nvPr/>
        </p:nvSpPr>
        <p:spPr>
          <a:xfrm>
            <a:off x="868680" y="3611880"/>
            <a:ext cx="2194560" cy="822960"/>
          </a:xfrm>
          <a:prstGeom prst="rect">
            <a:avLst/>
          </a:prstGeom>
          <a:noFill/>
          <a:ln/>
        </p:spPr>
        <p:txBody>
          <a:bodyPr wrap="square" rtlCol="0" anchor="ctr"/>
          <a:lstStyle/>
          <a:p>
            <a:pPr indent="0" marL="0">
              <a:lnSpc>
                <a:spcPts val="1300"/>
              </a:lnSpc>
              <a:buNone/>
            </a:pPr>
            <a:r>
              <a:rPr lang="en-US" sz="900" dirty="0">
                <a:solidFill>
                  <a:srgbClr val="94A3B8"/>
                </a:solidFill>
                <a:latin typeface="Arial" pitchFamily="34" charset="0"/>
                <a:ea typeface="Arial" pitchFamily="34" charset="-122"/>
                <a:cs typeface="Arial" pitchFamily="34" charset="-120"/>
              </a:rPr>
              <a:t>Transaksi pendaftaran &amp; AES NIK/NIP.</a:t>
            </a:r>
            <a:endParaRPr lang="en-US" sz="900" dirty="0"/>
          </a:p>
        </p:txBody>
      </p:sp>
      <p:sp>
        <p:nvSpPr>
          <p:cNvPr id="21" name="Shape 19"/>
          <p:cNvSpPr/>
          <p:nvPr/>
        </p:nvSpPr>
        <p:spPr>
          <a:xfrm>
            <a:off x="3474720" y="3108960"/>
            <a:ext cx="2468880" cy="1463040"/>
          </a:xfrm>
          <a:prstGeom prst="rect">
            <a:avLst/>
          </a:prstGeom>
          <a:solidFill>
            <a:srgbClr val="1E293B"/>
          </a:solidFill>
          <a:ln w="19050">
            <a:solidFill>
              <a:srgbClr val="10B981"/>
            </a:solidFill>
            <a:prstDash val="solid"/>
          </a:ln>
        </p:spPr>
      </p:sp>
      <p:sp>
        <p:nvSpPr>
          <p:cNvPr id="22" name="Text 20"/>
          <p:cNvSpPr/>
          <p:nvPr/>
        </p:nvSpPr>
        <p:spPr>
          <a:xfrm>
            <a:off x="3611880" y="3291840"/>
            <a:ext cx="2194560" cy="27432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6. sertifikat_tte</a:t>
            </a:r>
            <a:endParaRPr lang="en-US" sz="1050" dirty="0"/>
          </a:p>
        </p:txBody>
      </p:sp>
      <p:sp>
        <p:nvSpPr>
          <p:cNvPr id="23" name="Text 21"/>
          <p:cNvSpPr/>
          <p:nvPr/>
        </p:nvSpPr>
        <p:spPr>
          <a:xfrm>
            <a:off x="3611880" y="3611880"/>
            <a:ext cx="2194560" cy="822960"/>
          </a:xfrm>
          <a:prstGeom prst="rect">
            <a:avLst/>
          </a:prstGeom>
          <a:noFill/>
          <a:ln/>
        </p:spPr>
        <p:txBody>
          <a:bodyPr wrap="square" rtlCol="0" anchor="ctr"/>
          <a:lstStyle/>
          <a:p>
            <a:pPr indent="0" marL="0">
              <a:lnSpc>
                <a:spcPts val="1300"/>
              </a:lnSpc>
              <a:buNone/>
            </a:pPr>
            <a:r>
              <a:rPr lang="en-US" sz="900" dirty="0">
                <a:solidFill>
                  <a:srgbClr val="94A3B8"/>
                </a:solidFill>
                <a:latin typeface="Arial" pitchFamily="34" charset="0"/>
                <a:ea typeface="Arial" pitchFamily="34" charset="-122"/>
                <a:cs typeface="Arial" pitchFamily="34" charset="-120"/>
              </a:rPr>
              <a:t>Sertifikat BSrE, jatuh tempo +2 th.</a:t>
            </a:r>
            <a:endParaRPr lang="en-US" sz="900" dirty="0"/>
          </a:p>
        </p:txBody>
      </p:sp>
      <p:sp>
        <p:nvSpPr>
          <p:cNvPr id="24" name="Shape 22"/>
          <p:cNvSpPr/>
          <p:nvPr/>
        </p:nvSpPr>
        <p:spPr>
          <a:xfrm>
            <a:off x="6217920" y="3108960"/>
            <a:ext cx="2468880" cy="1463040"/>
          </a:xfrm>
          <a:prstGeom prst="rect">
            <a:avLst/>
          </a:prstGeom>
          <a:solidFill>
            <a:srgbClr val="1E293B"/>
          </a:solidFill>
          <a:ln w="19050">
            <a:solidFill>
              <a:srgbClr val="F59E0B"/>
            </a:solidFill>
            <a:prstDash val="solid"/>
          </a:ln>
        </p:spPr>
      </p:sp>
      <p:sp>
        <p:nvSpPr>
          <p:cNvPr id="25" name="Text 23"/>
          <p:cNvSpPr/>
          <p:nvPr/>
        </p:nvSpPr>
        <p:spPr>
          <a:xfrm>
            <a:off x="6355080" y="3291840"/>
            <a:ext cx="2194560" cy="27432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7. dashboard_daily_stats</a:t>
            </a:r>
            <a:endParaRPr lang="en-US" sz="1050" dirty="0"/>
          </a:p>
        </p:txBody>
      </p:sp>
      <p:sp>
        <p:nvSpPr>
          <p:cNvPr id="26" name="Text 24"/>
          <p:cNvSpPr/>
          <p:nvPr/>
        </p:nvSpPr>
        <p:spPr>
          <a:xfrm>
            <a:off x="6355080" y="3611880"/>
            <a:ext cx="2194560" cy="822960"/>
          </a:xfrm>
          <a:prstGeom prst="rect">
            <a:avLst/>
          </a:prstGeom>
          <a:noFill/>
          <a:ln/>
        </p:spPr>
        <p:txBody>
          <a:bodyPr wrap="square" rtlCol="0" anchor="ctr"/>
          <a:lstStyle/>
          <a:p>
            <a:pPr indent="0" marL="0">
              <a:lnSpc>
                <a:spcPts val="1300"/>
              </a:lnSpc>
              <a:buNone/>
            </a:pPr>
            <a:r>
              <a:rPr lang="en-US" sz="900" dirty="0">
                <a:solidFill>
                  <a:srgbClr val="94A3B8"/>
                </a:solidFill>
                <a:latin typeface="Arial" pitchFamily="34" charset="0"/>
                <a:ea typeface="Arial" pitchFamily="34" charset="-122"/>
                <a:cs typeface="Arial" pitchFamily="34" charset="-120"/>
              </a:rPr>
              <a:t>Fast aggregator harian menyuplai Redis.</a:t>
            </a:r>
            <a:endParaRPr lang="en-US" sz="900" dirty="0"/>
          </a:p>
        </p:txBody>
      </p:sp>
      <p:sp>
        <p:nvSpPr>
          <p:cNvPr id="27" name="Shape 25"/>
          <p:cNvSpPr/>
          <p:nvPr/>
        </p:nvSpPr>
        <p:spPr>
          <a:xfrm>
            <a:off x="8961120" y="3108960"/>
            <a:ext cx="2468880" cy="1463040"/>
          </a:xfrm>
          <a:prstGeom prst="rect">
            <a:avLst/>
          </a:prstGeom>
          <a:solidFill>
            <a:srgbClr val="1E293B"/>
          </a:solidFill>
          <a:ln w="19050">
            <a:solidFill>
              <a:srgbClr val="0284C7"/>
            </a:solidFill>
            <a:prstDash val="solid"/>
          </a:ln>
        </p:spPr>
      </p:sp>
      <p:sp>
        <p:nvSpPr>
          <p:cNvPr id="28" name="Text 26"/>
          <p:cNvSpPr/>
          <p:nvPr/>
        </p:nvSpPr>
        <p:spPr>
          <a:xfrm>
            <a:off x="9098280" y="3291840"/>
            <a:ext cx="2194560" cy="27432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8. security_audit_logs</a:t>
            </a:r>
            <a:endParaRPr lang="en-US" sz="1050" dirty="0"/>
          </a:p>
        </p:txBody>
      </p:sp>
      <p:sp>
        <p:nvSpPr>
          <p:cNvPr id="29" name="Text 27"/>
          <p:cNvSpPr/>
          <p:nvPr/>
        </p:nvSpPr>
        <p:spPr>
          <a:xfrm>
            <a:off x="9098280" y="3611880"/>
            <a:ext cx="2194560" cy="822960"/>
          </a:xfrm>
          <a:prstGeom prst="rect">
            <a:avLst/>
          </a:prstGeom>
          <a:noFill/>
          <a:ln/>
        </p:spPr>
        <p:txBody>
          <a:bodyPr wrap="square" rtlCol="0" anchor="ctr"/>
          <a:lstStyle/>
          <a:p>
            <a:pPr indent="0" marL="0">
              <a:lnSpc>
                <a:spcPts val="1300"/>
              </a:lnSpc>
              <a:buNone/>
            </a:pPr>
            <a:r>
              <a:rPr lang="en-US" sz="900" dirty="0">
                <a:solidFill>
                  <a:srgbClr val="94A3B8"/>
                </a:solidFill>
                <a:latin typeface="Arial" pitchFamily="34" charset="0"/>
                <a:ea typeface="Arial" pitchFamily="34" charset="-122"/>
                <a:cs typeface="Arial" pitchFamily="34" charset="-120"/>
              </a:rPr>
              <a:t>Partisi bulanan native + default partition.</a:t>
            </a:r>
            <a:endParaRPr lang="en-US" sz="900" dirty="0"/>
          </a:p>
        </p:txBody>
      </p:sp>
      <p:sp>
        <p:nvSpPr>
          <p:cNvPr id="30" name="Shape 28"/>
          <p:cNvSpPr/>
          <p:nvPr/>
        </p:nvSpPr>
        <p:spPr>
          <a:xfrm>
            <a:off x="731520" y="4754880"/>
            <a:ext cx="10698480" cy="1463040"/>
          </a:xfrm>
          <a:prstGeom prst="rect">
            <a:avLst/>
          </a:prstGeom>
          <a:solidFill>
            <a:srgbClr val="1E293B"/>
          </a:solidFill>
          <a:ln w="12700">
            <a:solidFill>
              <a:srgbClr val="334155"/>
            </a:solidFill>
            <a:prstDash val="solid"/>
          </a:ln>
        </p:spPr>
      </p:sp>
      <p:sp>
        <p:nvSpPr>
          <p:cNvPr id="31" name="Text 29"/>
          <p:cNvSpPr/>
          <p:nvPr/>
        </p:nvSpPr>
        <p:spPr>
          <a:xfrm>
            <a:off x="914400" y="4892040"/>
            <a:ext cx="10332720" cy="1188720"/>
          </a:xfrm>
          <a:prstGeom prst="rect">
            <a:avLst/>
          </a:prstGeom>
          <a:noFill/>
          <a:ln/>
        </p:spPr>
        <p:txBody>
          <a:bodyPr wrap="square" rtlCol="0" anchor="ctr"/>
          <a:lstStyle/>
          <a:p>
            <a:pPr indent="0" marL="0">
              <a:lnSpc>
                <a:spcPts val="1500"/>
              </a:lnSpc>
              <a:buNone/>
            </a:pPr>
            <a:r>
              <a:rPr lang="en-US" sz="1100" b="1" dirty="0">
                <a:solidFill>
                  <a:srgbClr val="FFFFFF"/>
                </a:solidFill>
                <a:latin typeface="Arial" pitchFamily="34" charset="0"/>
                <a:ea typeface="Arial" pitchFamily="34" charset="-122"/>
                <a:cs typeface="Arial" pitchFamily="34" charset="-120"/>
              </a:rPr>
              <a:t>Keunggulan Skema PostgreSQL 16:
</a:t>
            </a:r>
            <a:pPr indent="0" marL="0">
              <a:lnSpc>
                <a:spcPts val="1500"/>
              </a:lnSpc>
              <a:buNone/>
            </a:pPr>
            <a:r>
              <a:rPr lang="en-US" sz="950" b="1" dirty="0">
                <a:solidFill>
                  <a:srgbClr val="06B6D4"/>
                </a:solidFill>
                <a:latin typeface="Arial" pitchFamily="34" charset="0"/>
                <a:ea typeface="Arial" pitchFamily="34" charset="-122"/>
                <a:cs typeface="Arial" pitchFamily="34" charset="-120"/>
              </a:rPr>
              <a:t>1. Partial Unique Index: </a:t>
            </a:r>
            <a:pPr indent="0" marL="0">
              <a:lnSpc>
                <a:spcPts val="1500"/>
              </a:lnSpc>
              <a:buNone/>
            </a:pPr>
            <a:r>
              <a:rPr lang="en-US" sz="950" dirty="0">
                <a:solidFill>
                  <a:srgbClr val="94A3B8"/>
                </a:solidFill>
                <a:latin typeface="Arial" pitchFamily="34" charset="0"/>
                <a:ea typeface="Arial" pitchFamily="34" charset="-122"/>
                <a:cs typeface="Arial" pitchFamily="34" charset="-120"/>
              </a:rPr>
              <a:t>Mengizinkan ASN yang DITOLAK mendaftar ulang secara mandiri tanpa tabrakan kunci unik.
</a:t>
            </a:r>
            <a:pPr indent="0" marL="0">
              <a:lnSpc>
                <a:spcPts val="1500"/>
              </a:lnSpc>
              <a:buNone/>
            </a:pPr>
            <a:r>
              <a:rPr lang="en-US" sz="950" b="1" dirty="0">
                <a:solidFill>
                  <a:srgbClr val="10B981"/>
                </a:solidFill>
                <a:latin typeface="Arial" pitchFamily="34" charset="0"/>
                <a:ea typeface="Arial" pitchFamily="34" charset="-122"/>
                <a:cs typeface="Arial" pitchFamily="34" charset="-120"/>
              </a:rPr>
              <a:t>2. Native Partitioning: </a:t>
            </a:r>
            <a:pPr indent="0" marL="0">
              <a:lnSpc>
                <a:spcPts val="1500"/>
              </a:lnSpc>
              <a:buNone/>
            </a:pPr>
            <a:r>
              <a:rPr lang="en-US" sz="950" dirty="0">
                <a:solidFill>
                  <a:srgbClr val="94A3B8"/>
                </a:solidFill>
                <a:latin typeface="Arial" pitchFamily="34" charset="0"/>
                <a:ea typeface="Arial" pitchFamily="34" charset="-122"/>
                <a:cs typeface="Arial" pitchFamily="34" charset="-120"/>
              </a:rPr>
              <a:t>Tabel security_audit_logs dipartisi bulanan dan dilengkapi partisi fallback security_audit_logs_default.</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12. EVALUASI KUALITAS KODE</a:t>
            </a:r>
            <a:endParaRPr lang="en-US" sz="1000" dirty="0"/>
          </a:p>
        </p:txBody>
      </p:sp>
      <p:sp>
        <p:nvSpPr>
          <p:cNvPr id="3" name="Text 1"/>
          <p:cNvSpPr/>
          <p:nvPr/>
        </p:nvSpPr>
        <p:spPr>
          <a:xfrm>
            <a:off x="731520" y="594360"/>
            <a:ext cx="10515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Hasil Evaluasi &amp; Remediasi Audit Kode Program 4 Pilar (100% Tuntas)</a:t>
            </a:r>
            <a:endParaRPr lang="en-US" sz="2000" dirty="0"/>
          </a:p>
        </p:txBody>
      </p:sp>
      <p:sp>
        <p:nvSpPr>
          <p:cNvPr id="4" name="Shape 2"/>
          <p:cNvSpPr/>
          <p:nvPr/>
        </p:nvSpPr>
        <p:spPr>
          <a:xfrm>
            <a:off x="731520" y="1143000"/>
            <a:ext cx="10698480" cy="0"/>
          </a:xfrm>
          <a:prstGeom prst="line">
            <a:avLst/>
          </a:prstGeom>
          <a:noFill/>
          <a:ln w="12700">
            <a:solidFill>
              <a:srgbClr val="334155"/>
            </a:solidFill>
            <a:prstDash val="solid"/>
          </a:ln>
        </p:spPr>
      </p:sp>
      <p:sp>
        <p:nvSpPr>
          <p:cNvPr id="5" name="Text 3"/>
          <p:cNvSpPr/>
          <p:nvPr/>
        </p:nvSpPr>
        <p:spPr>
          <a:xfrm>
            <a:off x="731520" y="6492240"/>
            <a:ext cx="9144000"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DISKOMINFO / BIDANG PERSANDIAN KOTA CIREBON • SISTEM MONITORING TTE V4.1</a:t>
            </a:r>
            <a:endParaRPr lang="en-US" sz="900" dirty="0"/>
          </a:p>
        </p:txBody>
      </p:sp>
      <p:sp>
        <p:nvSpPr>
          <p:cNvPr id="6" name="Shape 4"/>
          <p:cNvSpPr/>
          <p:nvPr/>
        </p:nvSpPr>
        <p:spPr>
          <a:xfrm>
            <a:off x="731520" y="1463040"/>
            <a:ext cx="5212080" cy="2286000"/>
          </a:xfrm>
          <a:prstGeom prst="rect">
            <a:avLst/>
          </a:prstGeom>
          <a:solidFill>
            <a:srgbClr val="1E293B"/>
          </a:solidFill>
          <a:ln w="19050">
            <a:solidFill>
              <a:srgbClr val="06B6D4"/>
            </a:solidFill>
            <a:prstDash val="solid"/>
          </a:ln>
        </p:spPr>
      </p:sp>
      <p:sp>
        <p:nvSpPr>
          <p:cNvPr id="7" name="Text 5"/>
          <p:cNvSpPr/>
          <p:nvPr/>
        </p:nvSpPr>
        <p:spPr>
          <a:xfrm>
            <a:off x="914400" y="1645920"/>
            <a:ext cx="484632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Pilar I: Keamanan Data Pribadi</a:t>
            </a:r>
            <a:endParaRPr lang="en-US" sz="1200" dirty="0"/>
          </a:p>
        </p:txBody>
      </p:sp>
      <p:sp>
        <p:nvSpPr>
          <p:cNvPr id="8" name="Text 6"/>
          <p:cNvSpPr/>
          <p:nvPr/>
        </p:nvSpPr>
        <p:spPr>
          <a:xfrm>
            <a:off x="914400" y="2011680"/>
            <a:ext cx="4846320" cy="1554480"/>
          </a:xfrm>
          <a:prstGeom prst="rect">
            <a:avLst/>
          </a:prstGeom>
          <a:noFill/>
          <a:ln/>
        </p:spPr>
        <p:txBody>
          <a:bodyPr wrap="square" rtlCol="0" anchor="ctr"/>
          <a:lstStyle/>
          <a:p>
            <a:pPr indent="0" marL="0">
              <a:lnSpc>
                <a:spcPts val="1400"/>
              </a:lnSpc>
              <a:buNone/>
            </a:pPr>
            <a:r>
              <a:rPr lang="en-US" sz="950" dirty="0">
                <a:solidFill>
                  <a:srgbClr val="94A3B8"/>
                </a:solidFill>
                <a:latin typeface="Arial" pitchFamily="34" charset="0"/>
                <a:ea typeface="Arial" pitchFamily="34" charset="-122"/>
                <a:cs typeface="Arial" pitchFamily="34" charset="-120"/>
              </a:rPr>
              <a:t>• Temuan 1 (Kritis): NIK/NIP tersimpan di localStorage browser.</a:t>
            </a:r>
            <a:endParaRPr lang="en-US" sz="950" dirty="0"/>
          </a:p>
          <a:p>
            <a:pPr indent="0" marL="0">
              <a:lnSpc>
                <a:spcPts val="1400"/>
              </a:lnSpc>
              <a:buNone/>
            </a:pPr>
            <a:r>
              <a:rPr lang="en-US" sz="950" dirty="0">
                <a:solidFill>
                  <a:srgbClr val="94A3B8"/>
                </a:solidFill>
                <a:latin typeface="Arial" pitchFamily="34" charset="0"/>
                <a:ea typeface="Arial" pitchFamily="34" charset="-122"/>
                <a:cs typeface="Arial" pitchFamily="34" charset="-120"/>
              </a:rPr>
              <a:t>• Solusi: Dialihkan ke sessionStorage tanpa menyimpan NIK/NIP mentah, auto-clear saat form disubmit (Kepatuhan UU PDP No. 27/2022).</a:t>
            </a:r>
            <a:endParaRPr lang="en-US" sz="950" dirty="0"/>
          </a:p>
        </p:txBody>
      </p:sp>
      <p:sp>
        <p:nvSpPr>
          <p:cNvPr id="9" name="Shape 7"/>
          <p:cNvSpPr/>
          <p:nvPr/>
        </p:nvSpPr>
        <p:spPr>
          <a:xfrm>
            <a:off x="6217920" y="1463040"/>
            <a:ext cx="5212080" cy="2286000"/>
          </a:xfrm>
          <a:prstGeom prst="rect">
            <a:avLst/>
          </a:prstGeom>
          <a:solidFill>
            <a:srgbClr val="1E293B"/>
          </a:solidFill>
          <a:ln w="19050">
            <a:solidFill>
              <a:srgbClr val="F59E0B"/>
            </a:solidFill>
            <a:prstDash val="solid"/>
          </a:ln>
        </p:spPr>
      </p:sp>
      <p:sp>
        <p:nvSpPr>
          <p:cNvPr id="10" name="Text 8"/>
          <p:cNvSpPr/>
          <p:nvPr/>
        </p:nvSpPr>
        <p:spPr>
          <a:xfrm>
            <a:off x="6400800" y="1645920"/>
            <a:ext cx="484632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Pilar II: IAM &amp; Otorisasi</a:t>
            </a:r>
            <a:endParaRPr lang="en-US" sz="1200" dirty="0"/>
          </a:p>
        </p:txBody>
      </p:sp>
      <p:sp>
        <p:nvSpPr>
          <p:cNvPr id="11" name="Text 9"/>
          <p:cNvSpPr/>
          <p:nvPr/>
        </p:nvSpPr>
        <p:spPr>
          <a:xfrm>
            <a:off x="6400800" y="2011680"/>
            <a:ext cx="4846320" cy="1554480"/>
          </a:xfrm>
          <a:prstGeom prst="rect">
            <a:avLst/>
          </a:prstGeom>
          <a:noFill/>
          <a:ln/>
        </p:spPr>
        <p:txBody>
          <a:bodyPr wrap="square" rtlCol="0" anchor="ctr"/>
          <a:lstStyle/>
          <a:p>
            <a:pPr indent="0" marL="0">
              <a:lnSpc>
                <a:spcPts val="1400"/>
              </a:lnSpc>
              <a:buNone/>
            </a:pPr>
            <a:r>
              <a:rPr lang="en-US" sz="950" dirty="0">
                <a:solidFill>
                  <a:srgbClr val="94A3B8"/>
                </a:solidFill>
                <a:latin typeface="Arial" pitchFamily="34" charset="0"/>
                <a:ea typeface="Arial" pitchFamily="34" charset="-122"/>
                <a:cs typeface="Arial" pitchFamily="34" charset="-120"/>
              </a:rPr>
              <a:t>• Temuan 2 &amp; 3: Absensi step-up auth &amp; gagal simpan backup codes.</a:t>
            </a:r>
            <a:endParaRPr lang="en-US" sz="950" dirty="0"/>
          </a:p>
          <a:p>
            <a:pPr indent="0" marL="0">
              <a:lnSpc>
                <a:spcPts val="1400"/>
              </a:lnSpc>
              <a:buNone/>
            </a:pPr>
            <a:r>
              <a:rPr lang="en-US" sz="950" dirty="0">
                <a:solidFill>
                  <a:srgbClr val="94A3B8"/>
                </a:solidFill>
                <a:latin typeface="Arial" pitchFamily="34" charset="0"/>
                <a:ea typeface="Arial" pitchFamily="34" charset="-122"/>
                <a:cs typeface="Arial" pitchFamily="34" charset="-120"/>
              </a:rPr>
              <a:t>• Solusi: Wajib validasi current_password saat matikan MFA, enkripsi 8 backup codes di users, penegakan Laravel Policies.</a:t>
            </a:r>
            <a:endParaRPr lang="en-US" sz="950" dirty="0"/>
          </a:p>
        </p:txBody>
      </p:sp>
      <p:sp>
        <p:nvSpPr>
          <p:cNvPr id="12" name="Shape 10"/>
          <p:cNvSpPr/>
          <p:nvPr/>
        </p:nvSpPr>
        <p:spPr>
          <a:xfrm>
            <a:off x="731520" y="3931920"/>
            <a:ext cx="5212080" cy="2286000"/>
          </a:xfrm>
          <a:prstGeom prst="rect">
            <a:avLst/>
          </a:prstGeom>
          <a:solidFill>
            <a:srgbClr val="1E293B"/>
          </a:solidFill>
          <a:ln w="19050">
            <a:solidFill>
              <a:srgbClr val="10B981"/>
            </a:solidFill>
            <a:prstDash val="solid"/>
          </a:ln>
        </p:spPr>
      </p:sp>
      <p:sp>
        <p:nvSpPr>
          <p:cNvPr id="13" name="Text 11"/>
          <p:cNvSpPr/>
          <p:nvPr/>
        </p:nvSpPr>
        <p:spPr>
          <a:xfrm>
            <a:off x="914400" y="4114800"/>
            <a:ext cx="484632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Pilar III: Kinerja Basis Data</a:t>
            </a:r>
            <a:endParaRPr lang="en-US" sz="1200" dirty="0"/>
          </a:p>
        </p:txBody>
      </p:sp>
      <p:sp>
        <p:nvSpPr>
          <p:cNvPr id="14" name="Text 12"/>
          <p:cNvSpPr/>
          <p:nvPr/>
        </p:nvSpPr>
        <p:spPr>
          <a:xfrm>
            <a:off x="914400" y="4480560"/>
            <a:ext cx="4846320" cy="1554480"/>
          </a:xfrm>
          <a:prstGeom prst="rect">
            <a:avLst/>
          </a:prstGeom>
          <a:noFill/>
          <a:ln/>
        </p:spPr>
        <p:txBody>
          <a:bodyPr wrap="square" rtlCol="0" anchor="ctr"/>
          <a:lstStyle/>
          <a:p>
            <a:pPr indent="0" marL="0">
              <a:lnSpc>
                <a:spcPts val="1400"/>
              </a:lnSpc>
              <a:buNone/>
            </a:pPr>
            <a:r>
              <a:rPr lang="en-US" sz="950" dirty="0">
                <a:solidFill>
                  <a:srgbClr val="94A3B8"/>
                </a:solidFill>
                <a:latin typeface="Arial" pitchFamily="34" charset="0"/>
                <a:ea typeface="Arial" pitchFamily="34" charset="-122"/>
                <a:cs typeface="Arial" pitchFamily="34" charset="-120"/>
              </a:rPr>
              <a:t>• Temuan 5 &amp; 6: Potensi badai N+1 &amp; absensi partisi fallback.</a:t>
            </a:r>
            <a:endParaRPr lang="en-US" sz="950" dirty="0"/>
          </a:p>
          <a:p>
            <a:pPr indent="0" marL="0">
              <a:lnSpc>
                <a:spcPts val="1400"/>
              </a:lnSpc>
              <a:buNone/>
            </a:pPr>
            <a:r>
              <a:rPr lang="en-US" sz="950" dirty="0">
                <a:solidFill>
                  <a:srgbClr val="94A3B8"/>
                </a:solidFill>
                <a:latin typeface="Arial" pitchFamily="34" charset="0"/>
                <a:ea typeface="Arial" pitchFamily="34" charset="-122"/>
                <a:cs typeface="Arial" pitchFamily="34" charset="-120"/>
              </a:rPr>
              <a:t>• Solusi: Ekspor kueri single leftJoin cursor bebas N+1 &amp; migrasi partisi default security_audit_logs_default.</a:t>
            </a:r>
            <a:endParaRPr lang="en-US" sz="950" dirty="0"/>
          </a:p>
        </p:txBody>
      </p:sp>
      <p:sp>
        <p:nvSpPr>
          <p:cNvPr id="15" name="Shape 13"/>
          <p:cNvSpPr/>
          <p:nvPr/>
        </p:nvSpPr>
        <p:spPr>
          <a:xfrm>
            <a:off x="6217920" y="3931920"/>
            <a:ext cx="5212080" cy="2286000"/>
          </a:xfrm>
          <a:prstGeom prst="rect">
            <a:avLst/>
          </a:prstGeom>
          <a:solidFill>
            <a:srgbClr val="1E293B"/>
          </a:solidFill>
          <a:ln w="19050">
            <a:solidFill>
              <a:srgbClr val="0284C7"/>
            </a:solidFill>
            <a:prstDash val="solid"/>
          </a:ln>
        </p:spPr>
      </p:sp>
      <p:sp>
        <p:nvSpPr>
          <p:cNvPr id="16" name="Text 14"/>
          <p:cNvSpPr/>
          <p:nvPr/>
        </p:nvSpPr>
        <p:spPr>
          <a:xfrm>
            <a:off x="6400800" y="4114800"/>
            <a:ext cx="484632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Pilar IV: Infrastruktur &amp; Kode</a:t>
            </a:r>
            <a:endParaRPr lang="en-US" sz="1200" dirty="0"/>
          </a:p>
        </p:txBody>
      </p:sp>
      <p:sp>
        <p:nvSpPr>
          <p:cNvPr id="17" name="Text 15"/>
          <p:cNvSpPr/>
          <p:nvPr/>
        </p:nvSpPr>
        <p:spPr>
          <a:xfrm>
            <a:off x="6400800" y="4480560"/>
            <a:ext cx="4846320" cy="1554480"/>
          </a:xfrm>
          <a:prstGeom prst="rect">
            <a:avLst/>
          </a:prstGeom>
          <a:noFill/>
          <a:ln/>
        </p:spPr>
        <p:txBody>
          <a:bodyPr wrap="square" rtlCol="0" anchor="ctr"/>
          <a:lstStyle/>
          <a:p>
            <a:pPr indent="0" marL="0">
              <a:lnSpc>
                <a:spcPts val="1400"/>
              </a:lnSpc>
              <a:buNone/>
            </a:pPr>
            <a:r>
              <a:rPr lang="en-US" sz="950" dirty="0">
                <a:solidFill>
                  <a:srgbClr val="94A3B8"/>
                </a:solidFill>
                <a:latin typeface="Arial" pitchFamily="34" charset="0"/>
                <a:ea typeface="Arial" pitchFamily="34" charset="-122"/>
                <a:cs typeface="Arial" pitchFamily="34" charset="-120"/>
              </a:rPr>
              <a:t>• Temuan 7-11: Regex email tidak sinkron &amp; password Docker kosong.</a:t>
            </a:r>
            <a:endParaRPr lang="en-US" sz="950" dirty="0"/>
          </a:p>
          <a:p>
            <a:pPr indent="0" marL="0">
              <a:lnSpc>
                <a:spcPts val="1400"/>
              </a:lnSpc>
              <a:buNone/>
            </a:pPr>
            <a:r>
              <a:rPr lang="en-US" sz="950" dirty="0">
                <a:solidFill>
                  <a:srgbClr val="94A3B8"/>
                </a:solidFill>
                <a:latin typeface="Arial" pitchFamily="34" charset="0"/>
                <a:ea typeface="Arial" pitchFamily="34" charset="-122"/>
                <a:cs typeface="Arial" pitchFamily="34" charset="-120"/>
              </a:rPr>
              <a:t>• Solusi: Sinkronisasi regex, DRY exception handler $jsonResponder, dan penegakan strict variable ${DB_PASSWORD:?...}.</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13. PEMELIHARAAN &amp; DEPLOYMENT</a:t>
            </a:r>
            <a:endParaRPr lang="en-US" sz="1000" dirty="0"/>
          </a:p>
        </p:txBody>
      </p:sp>
      <p:sp>
        <p:nvSpPr>
          <p:cNvPr id="3" name="Text 1"/>
          <p:cNvSpPr/>
          <p:nvPr/>
        </p:nvSpPr>
        <p:spPr>
          <a:xfrm>
            <a:off x="731520" y="594360"/>
            <a:ext cx="10515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Panduan Operasional &amp; Mitigasi Error (E-01 s/d E-12)</a:t>
            </a:r>
            <a:endParaRPr lang="en-US" sz="2000" dirty="0"/>
          </a:p>
        </p:txBody>
      </p:sp>
      <p:sp>
        <p:nvSpPr>
          <p:cNvPr id="4" name="Shape 2"/>
          <p:cNvSpPr/>
          <p:nvPr/>
        </p:nvSpPr>
        <p:spPr>
          <a:xfrm>
            <a:off x="731520" y="1143000"/>
            <a:ext cx="10698480" cy="0"/>
          </a:xfrm>
          <a:prstGeom prst="line">
            <a:avLst/>
          </a:prstGeom>
          <a:noFill/>
          <a:ln w="12700">
            <a:solidFill>
              <a:srgbClr val="334155"/>
            </a:solidFill>
            <a:prstDash val="solid"/>
          </a:ln>
        </p:spPr>
      </p:sp>
      <p:sp>
        <p:nvSpPr>
          <p:cNvPr id="5" name="Text 3"/>
          <p:cNvSpPr/>
          <p:nvPr/>
        </p:nvSpPr>
        <p:spPr>
          <a:xfrm>
            <a:off x="731520" y="6492240"/>
            <a:ext cx="9144000"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DISKOMINFO / BIDANG PERSANDIAN KOTA CIREBON • SISTEM MONITORING TTE V4.1</a:t>
            </a:r>
            <a:endParaRPr lang="en-US" sz="900" dirty="0"/>
          </a:p>
        </p:txBody>
      </p:sp>
      <p:sp>
        <p:nvSpPr>
          <p:cNvPr id="6" name="Shape 4"/>
          <p:cNvSpPr/>
          <p:nvPr/>
        </p:nvSpPr>
        <p:spPr>
          <a:xfrm>
            <a:off x="731520" y="1463040"/>
            <a:ext cx="5120640" cy="4754880"/>
          </a:xfrm>
          <a:prstGeom prst="rect">
            <a:avLst/>
          </a:prstGeom>
          <a:solidFill>
            <a:srgbClr val="1E293B"/>
          </a:solidFill>
          <a:ln w="19050">
            <a:solidFill>
              <a:srgbClr val="06B6D4"/>
            </a:solidFill>
            <a:prstDash val="solid"/>
          </a:ln>
        </p:spPr>
      </p:sp>
      <p:sp>
        <p:nvSpPr>
          <p:cNvPr id="7" name="Text 5"/>
          <p:cNvSpPr/>
          <p:nvPr/>
        </p:nvSpPr>
        <p:spPr>
          <a:xfrm>
            <a:off x="914400" y="1645920"/>
            <a:ext cx="475488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Prosedur Deployment Standar</a:t>
            </a:r>
            <a:endParaRPr lang="en-US" sz="1400" dirty="0"/>
          </a:p>
        </p:txBody>
      </p:sp>
      <p:sp>
        <p:nvSpPr>
          <p:cNvPr id="8" name="Shape 6"/>
          <p:cNvSpPr/>
          <p:nvPr/>
        </p:nvSpPr>
        <p:spPr>
          <a:xfrm>
            <a:off x="914400" y="2103120"/>
            <a:ext cx="4754880" cy="3931920"/>
          </a:xfrm>
          <a:prstGeom prst="rect">
            <a:avLst/>
          </a:prstGeom>
          <a:solidFill>
            <a:srgbClr val="090D16"/>
          </a:solidFill>
          <a:ln w="12700">
            <a:solidFill>
              <a:srgbClr val="0284C7"/>
            </a:solidFill>
            <a:prstDash val="solid"/>
          </a:ln>
        </p:spPr>
      </p:sp>
      <p:sp>
        <p:nvSpPr>
          <p:cNvPr id="9" name="Text 7"/>
          <p:cNvSpPr/>
          <p:nvPr/>
        </p:nvSpPr>
        <p:spPr>
          <a:xfrm>
            <a:off x="1051560" y="2194560"/>
            <a:ext cx="4480560" cy="3749040"/>
          </a:xfrm>
          <a:prstGeom prst="rect">
            <a:avLst/>
          </a:prstGeom>
          <a:noFill/>
          <a:ln/>
        </p:spPr>
        <p:txBody>
          <a:bodyPr wrap="square" rtlCol="0" anchor="ctr"/>
          <a:lstStyle/>
          <a:p>
            <a:pPr indent="0" marL="0">
              <a:buNone/>
            </a:pPr>
            <a:r>
              <a:rPr lang="en-US" sz="850" dirty="0">
                <a:solidFill>
                  <a:srgbClr val="94A3B8"/>
                </a:solidFill>
                <a:latin typeface="Courier New" pitchFamily="34" charset="0"/>
                <a:ea typeface="Courier New" pitchFamily="34" charset="-122"/>
                <a:cs typeface="Courier New" pitchFamily="34" charset="-120"/>
              </a:rPr>
              <a:t># 1. Build &amp; Jalankan Kontainer Stack
</a:t>
            </a:r>
            <a:pPr indent="0" marL="0">
              <a:buNone/>
            </a:pPr>
            <a:r>
              <a:rPr lang="en-US" sz="850" dirty="0">
                <a:solidFill>
                  <a:srgbClr val="06B6D4"/>
                </a:solidFill>
                <a:latin typeface="Courier New" pitchFamily="34" charset="0"/>
                <a:ea typeface="Courier New" pitchFamily="34" charset="-122"/>
                <a:cs typeface="Courier New" pitchFamily="34" charset="-120"/>
              </a:rPr>
              <a:t>docker compose up -d --build
</a:t>
            </a:r>
            <a:pPr indent="0" marL="0">
              <a:buNone/>
            </a:pPr>
            <a:r>
              <a:rPr lang="en-US" sz="850" dirty="0">
                <a:solidFill>
                  <a:srgbClr val="94A3B8"/>
                </a:solidFill>
                <a:latin typeface="Courier New" pitchFamily="34" charset="0"/>
                <a:ea typeface="Courier New" pitchFamily="34" charset="-122"/>
                <a:cs typeface="Courier New" pitchFamily="34" charset="-120"/>
              </a:rPr>
              <a:t># 2. Migrasi Database &amp; Seeder Data
</a:t>
            </a:r>
            <a:pPr indent="0" marL="0">
              <a:buNone/>
            </a:pPr>
            <a:r>
              <a:rPr lang="en-US" sz="850" dirty="0">
                <a:solidFill>
                  <a:srgbClr val="10B981"/>
                </a:solidFill>
                <a:latin typeface="Courier New" pitchFamily="34" charset="0"/>
                <a:ea typeface="Courier New" pitchFamily="34" charset="-122"/>
                <a:cs typeface="Courier New" pitchFamily="34" charset="-120"/>
              </a:rPr>
              <a:t>docker compose exec app php artisan migrate --seed --force
</a:t>
            </a:r>
            <a:pPr indent="0" marL="0">
              <a:buNone/>
            </a:pPr>
            <a:r>
              <a:rPr lang="en-US" sz="850" dirty="0">
                <a:solidFill>
                  <a:srgbClr val="94A3B8"/>
                </a:solidFill>
                <a:latin typeface="Courier New" pitchFamily="34" charset="0"/>
                <a:ea typeface="Courier New" pitchFamily="34" charset="-122"/>
                <a:cs typeface="Courier New" pitchFamily="34" charset="-120"/>
              </a:rPr>
              <a:t># 3. Hardening Cache Produksi
</a:t>
            </a:r>
            <a:pPr indent="0" marL="0">
              <a:buNone/>
            </a:pPr>
            <a:r>
              <a:rPr lang="en-US" sz="850" dirty="0">
                <a:solidFill>
                  <a:srgbClr val="FFFFFF"/>
                </a:solidFill>
                <a:latin typeface="Courier New" pitchFamily="34" charset="0"/>
                <a:ea typeface="Courier New" pitchFamily="34" charset="-122"/>
                <a:cs typeface="Courier New" pitchFamily="34" charset="-120"/>
              </a:rPr>
              <a:t>docker compose exec app php artisan config:cache
</a:t>
            </a:r>
            <a:pPr indent="0" marL="0">
              <a:buNone/>
            </a:pPr>
            <a:r>
              <a:rPr lang="en-US" sz="850" dirty="0">
                <a:solidFill>
                  <a:srgbClr val="FFFFFF"/>
                </a:solidFill>
                <a:latin typeface="Courier New" pitchFamily="34" charset="0"/>
                <a:ea typeface="Courier New" pitchFamily="34" charset="-122"/>
                <a:cs typeface="Courier New" pitchFamily="34" charset="-120"/>
              </a:rPr>
              <a:t>docker compose exec app php artisan route:cache
</a:t>
            </a:r>
            <a:pPr indent="0" marL="0">
              <a:buNone/>
            </a:pPr>
            <a:r>
              <a:rPr lang="en-US" sz="850" dirty="0">
                <a:solidFill>
                  <a:srgbClr val="94A3B8"/>
                </a:solidFill>
                <a:latin typeface="Courier New" pitchFamily="34" charset="0"/>
                <a:ea typeface="Courier New" pitchFamily="34" charset="-122"/>
                <a:cs typeface="Courier New" pitchFamily="34" charset="-120"/>
              </a:rPr>
              <a:t># 4. Crontab Host Server (Scheduler 00:01 WIB)
</a:t>
            </a:r>
            <a:pPr indent="0" marL="0">
              <a:buNone/>
            </a:pPr>
            <a:r>
              <a:rPr lang="en-US" sz="850" dirty="0">
                <a:solidFill>
                  <a:srgbClr val="F59E0B"/>
                </a:solidFill>
                <a:latin typeface="Courier New" pitchFamily="34" charset="0"/>
                <a:ea typeface="Courier New" pitchFamily="34" charset="-122"/>
                <a:cs typeface="Courier New" pitchFamily="34" charset="-120"/>
              </a:rPr>
              <a:t>* * * * * cd /sismon-tte &amp;&amp; docker compose exec -T app php artisan schedule:run &gt;&gt; /dev/null 2&gt;&amp;1</a:t>
            </a:r>
            <a:endParaRPr lang="en-US" sz="850" dirty="0"/>
          </a:p>
        </p:txBody>
      </p:sp>
      <p:sp>
        <p:nvSpPr>
          <p:cNvPr id="10" name="Shape 8"/>
          <p:cNvSpPr/>
          <p:nvPr/>
        </p:nvSpPr>
        <p:spPr>
          <a:xfrm>
            <a:off x="6217920" y="1463040"/>
            <a:ext cx="5212080" cy="4754880"/>
          </a:xfrm>
          <a:prstGeom prst="rect">
            <a:avLst/>
          </a:prstGeom>
          <a:solidFill>
            <a:srgbClr val="1E293B"/>
          </a:solidFill>
          <a:ln w="19050">
            <a:solidFill>
              <a:srgbClr val="F59E0B"/>
            </a:solidFill>
            <a:prstDash val="solid"/>
          </a:ln>
        </p:spPr>
      </p:sp>
      <p:sp>
        <p:nvSpPr>
          <p:cNvPr id="11" name="Text 9"/>
          <p:cNvSpPr/>
          <p:nvPr/>
        </p:nvSpPr>
        <p:spPr>
          <a:xfrm>
            <a:off x="6400800" y="1645920"/>
            <a:ext cx="484632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Mitigasi Error Operasional Cepat</a:t>
            </a:r>
            <a:endParaRPr lang="en-US" sz="1400" dirty="0"/>
          </a:p>
        </p:txBody>
      </p:sp>
      <p:sp>
        <p:nvSpPr>
          <p:cNvPr id="12" name="Text 10"/>
          <p:cNvSpPr/>
          <p:nvPr/>
        </p:nvSpPr>
        <p:spPr>
          <a:xfrm>
            <a:off x="6400800" y="2103120"/>
            <a:ext cx="4846320" cy="3931920"/>
          </a:xfrm>
          <a:prstGeom prst="rect">
            <a:avLst/>
          </a:prstGeom>
          <a:noFill/>
          <a:ln/>
        </p:spPr>
        <p:txBody>
          <a:bodyPr wrap="square" rtlCol="0" anchor="ctr"/>
          <a:lstStyle/>
          <a:p>
            <a:pPr indent="0" marL="0">
              <a:lnSpc>
                <a:spcPts val="1400"/>
              </a:lnSpc>
              <a:buNone/>
            </a:pPr>
            <a:r>
              <a:rPr lang="en-US" sz="950" b="1" dirty="0">
                <a:solidFill>
                  <a:srgbClr val="F43F5E"/>
                </a:solidFill>
                <a:latin typeface="Arial" pitchFamily="34" charset="0"/>
                <a:ea typeface="Arial" pitchFamily="34" charset="-122"/>
                <a:cs typeface="Arial" pitchFamily="34" charset="-120"/>
              </a:rPr>
              <a:t>• E-02 (HTTP 404 pada /admin):
</a:t>
            </a:r>
            <a:pPr indent="0" marL="0">
              <a:lnSpc>
                <a:spcPts val="1400"/>
              </a:lnSpc>
              <a:buNone/>
            </a:pPr>
            <a:r>
              <a:rPr lang="en-US" sz="950" dirty="0">
                <a:solidFill>
                  <a:srgbClr val="94A3B8"/>
                </a:solidFill>
                <a:latin typeface="Arial" pitchFamily="34" charset="0"/>
                <a:ea typeface="Arial" pitchFamily="34" charset="-122"/>
                <a:cs typeface="Arial" pitchFamily="34" charset="-120"/>
              </a:rPr>
              <a:t>  IP klien di luar subnet VPN. Hubungkan ke VPN Diskominfo atau perbarui VPN_ALLOWED_SUBNETS di .env.
</a:t>
            </a:r>
            <a:pPr indent="0" marL="0">
              <a:lnSpc>
                <a:spcPts val="1400"/>
              </a:lnSpc>
              <a:buNone/>
            </a:pPr>
            <a:r>
              <a:rPr lang="en-US" sz="950" b="1" dirty="0">
                <a:solidFill>
                  <a:srgbClr val="F43F5E"/>
                </a:solidFill>
                <a:latin typeface="Arial" pitchFamily="34" charset="0"/>
                <a:ea typeface="Arial" pitchFamily="34" charset="-122"/>
                <a:cs typeface="Arial" pitchFamily="34" charset="-120"/>
              </a:rPr>
              <a:t>• E-06 (Redis NOAUTH Exception):
</a:t>
            </a:r>
            <a:pPr indent="0" marL="0">
              <a:lnSpc>
                <a:spcPts val="1400"/>
              </a:lnSpc>
              <a:buNone/>
            </a:pPr>
            <a:r>
              <a:rPr lang="en-US" sz="950" dirty="0">
                <a:solidFill>
                  <a:srgbClr val="94A3B8"/>
                </a:solidFill>
                <a:latin typeface="Arial" pitchFamily="34" charset="0"/>
                <a:ea typeface="Arial" pitchFamily="34" charset="-122"/>
                <a:cs typeface="Arial" pitchFamily="34" charset="-120"/>
              </a:rPr>
              <a:t>  Pastikan REDIS_PASSWORD di .env identik dengan flag --requirepass di docker-compose.yml.
</a:t>
            </a:r>
            <a:pPr indent="0" marL="0">
              <a:lnSpc>
                <a:spcPts val="1400"/>
              </a:lnSpc>
              <a:buNone/>
            </a:pPr>
            <a:r>
              <a:rPr lang="en-US" sz="950" b="1" dirty="0">
                <a:solidFill>
                  <a:srgbClr val="F43F5E"/>
                </a:solidFill>
                <a:latin typeface="Arial" pitchFamily="34" charset="0"/>
                <a:ea typeface="Arial" pitchFamily="34" charset="-122"/>
                <a:cs typeface="Arial" pitchFamily="34" charset="-120"/>
              </a:rPr>
              <a:t>• E-09 (MFA Lockout):
</a:t>
            </a:r>
            <a:pPr indent="0" marL="0">
              <a:lnSpc>
                <a:spcPts val="1400"/>
              </a:lnSpc>
              <a:buNone/>
            </a:pPr>
            <a:r>
              <a:rPr lang="en-US" sz="950" dirty="0">
                <a:solidFill>
                  <a:srgbClr val="94A3B8"/>
                </a:solidFill>
                <a:latin typeface="Arial" pitchFamily="34" charset="0"/>
                <a:ea typeface="Arial" pitchFamily="34" charset="-122"/>
                <a:cs typeface="Arial" pitchFamily="34" charset="-120"/>
              </a:rPr>
              <a:t>  Reset status MFA via Tinker terminal:
  App\Models\User::first()-&gt;update(['is_mfa_enabled'=&gt;false]);
</a:t>
            </a:r>
            <a:pPr indent="0" marL="0">
              <a:lnSpc>
                <a:spcPts val="1400"/>
              </a:lnSpc>
              <a:buNone/>
            </a:pPr>
            <a:r>
              <a:rPr lang="en-US" sz="950" b="1" dirty="0">
                <a:solidFill>
                  <a:srgbClr val="F43F5E"/>
                </a:solidFill>
                <a:latin typeface="Arial" pitchFamily="34" charset="0"/>
                <a:ea typeface="Arial" pitchFamily="34" charset="-122"/>
                <a:cs typeface="Arial" pitchFamily="34" charset="-120"/>
              </a:rPr>
              <a:t>• E-11 (Karakter Rusak di Excel):
</a:t>
            </a:r>
            <a:pPr indent="0" marL="0">
              <a:lnSpc>
                <a:spcPts val="1400"/>
              </a:lnSpc>
              <a:buNone/>
            </a:pPr>
            <a:r>
              <a:rPr lang="en-US" sz="950" dirty="0">
                <a:solidFill>
                  <a:srgbClr val="94A3B8"/>
                </a:solidFill>
                <a:latin typeface="Arial" pitchFamily="34" charset="0"/>
                <a:ea typeface="Arial" pitchFamily="34" charset="-122"/>
                <a:cs typeface="Arial" pitchFamily="34" charset="-120"/>
              </a:rPr>
              <a:t>  Telah disematkan UTF-8 BOM (\xEF\xBB\xBF) pada streaming export.</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14. PEMETAAN AKSES RESMI</a:t>
            </a:r>
            <a:endParaRPr lang="en-US" sz="1000" dirty="0"/>
          </a:p>
        </p:txBody>
      </p:sp>
      <p:sp>
        <p:nvSpPr>
          <p:cNvPr id="3" name="Text 1"/>
          <p:cNvSpPr/>
          <p:nvPr/>
        </p:nvSpPr>
        <p:spPr>
          <a:xfrm>
            <a:off x="731520" y="594360"/>
            <a:ext cx="10515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Pemetaan Rute Sistem &amp; Kredensial Akun Default</a:t>
            </a:r>
            <a:endParaRPr lang="en-US" sz="2000" dirty="0"/>
          </a:p>
        </p:txBody>
      </p:sp>
      <p:sp>
        <p:nvSpPr>
          <p:cNvPr id="4" name="Shape 2"/>
          <p:cNvSpPr/>
          <p:nvPr/>
        </p:nvSpPr>
        <p:spPr>
          <a:xfrm>
            <a:off x="731520" y="1143000"/>
            <a:ext cx="10698480" cy="0"/>
          </a:xfrm>
          <a:prstGeom prst="line">
            <a:avLst/>
          </a:prstGeom>
          <a:noFill/>
          <a:ln w="12700">
            <a:solidFill>
              <a:srgbClr val="334155"/>
            </a:solidFill>
            <a:prstDash val="solid"/>
          </a:ln>
        </p:spPr>
      </p:sp>
      <p:sp>
        <p:nvSpPr>
          <p:cNvPr id="5" name="Text 3"/>
          <p:cNvSpPr/>
          <p:nvPr/>
        </p:nvSpPr>
        <p:spPr>
          <a:xfrm>
            <a:off x="731520" y="6492240"/>
            <a:ext cx="9144000"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DISKOMINFO / BIDANG PERSANDIAN KOTA CIREBON • SISTEM MONITORING TTE V4.1</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5120640" cy="914400"/>
        </p:xfrm>
        <a:graphic>
          <a:graphicData uri="http://schemas.openxmlformats.org/drawingml/2006/table">
            <a:tbl>
              <a:tblPr/>
              <a:tblGrid>
                <a:gridCol w="1828800"/>
                <a:gridCol w="1097280"/>
                <a:gridCol w="2194560"/>
              </a:tblGrid>
              <a:tr h="0">
                <a:tc>
                  <a:txBody>
                    <a:bodyPr/>
                    <a:lstStyle/>
                    <a:p>
                      <a:pPr indent="0" marL="0">
                        <a:buNone/>
                      </a:pPr>
                      <a:r>
                        <a:rPr lang="en-US" sz="850" b="1" dirty="0">
                          <a:solidFill>
                            <a:srgbClr val="FFFFFF"/>
                          </a:solidFill>
                          <a:latin typeface="Arial" pitchFamily="34" charset="0"/>
                          <a:ea typeface="Arial" pitchFamily="34" charset="-122"/>
                          <a:cs typeface="Arial" pitchFamily="34" charset="-120"/>
                        </a:rPr>
                        <a:t>Rute URL</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334155"/>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Akses</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334155"/>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Fungsi Utama</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334155"/>
                    </a:solidFill>
                  </a:tcPr>
                </a:tc>
              </a:tr>
              <a:tr h="0">
                <a:tc>
                  <a:txBody>
                    <a:bodyPr/>
                    <a:lstStyle/>
                    <a:p>
                      <a:pPr indent="0" marL="0">
                        <a:buNone/>
                      </a:pPr>
                      <a:r>
                        <a:rPr lang="en-US" sz="850" dirty="0">
                          <a:solidFill>
                            <a:srgbClr val="94A3B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Publik</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Form Pendaftaran Mandiri ASN</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850" dirty="0">
                          <a:solidFill>
                            <a:srgbClr val="94A3B8"/>
                          </a:solidFill>
                          <a:latin typeface="Arial" pitchFamily="34" charset="0"/>
                          <a:ea typeface="Arial" pitchFamily="34" charset="-122"/>
                          <a:cs typeface="Arial" pitchFamily="34" charset="-120"/>
                        </a:rPr>
                        <a:t>/gateway/login</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VPN Only</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Login Kredensial Superadmin</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850" dirty="0">
                          <a:solidFill>
                            <a:srgbClr val="94A3B8"/>
                          </a:solidFill>
                          <a:latin typeface="Arial" pitchFamily="34" charset="0"/>
                          <a:ea typeface="Arial" pitchFamily="34" charset="-122"/>
                          <a:cs typeface="Arial" pitchFamily="34" charset="-120"/>
                        </a:rPr>
                        <a:t>/admin/dashboard</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VPN + Auth</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Dashboard Ringkasan &amp; Antrian</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850" dirty="0">
                          <a:solidFill>
                            <a:srgbClr val="94A3B8"/>
                          </a:solidFill>
                          <a:latin typeface="Arial" pitchFamily="34" charset="0"/>
                          <a:ea typeface="Arial" pitchFamily="34" charset="-122"/>
                          <a:cs typeface="Arial" pitchFamily="34" charset="-120"/>
                        </a:rPr>
                        <a:t>/admin/verifikasi</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VPN + Auth</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Antrean Verifikasi &amp; Rekap Email</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850" dirty="0">
                          <a:solidFill>
                            <a:srgbClr val="94A3B8"/>
                          </a:solidFill>
                          <a:latin typeface="Arial" pitchFamily="34" charset="0"/>
                          <a:ea typeface="Arial" pitchFamily="34" charset="-122"/>
                          <a:cs typeface="Arial" pitchFamily="34" charset="-120"/>
                        </a:rPr>
                        <a:t>/admin/penerbitan</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VPN + Auth</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Penerbitan Sertifikat BSrE</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850" dirty="0">
                          <a:solidFill>
                            <a:srgbClr val="94A3B8"/>
                          </a:solidFill>
                          <a:latin typeface="Arial" pitchFamily="34" charset="0"/>
                          <a:ea typeface="Arial" pitchFamily="34" charset="-122"/>
                          <a:cs typeface="Arial" pitchFamily="34" charset="-120"/>
                        </a:rPr>
                        <a:t>/admin/export/csv</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VPN + Auth</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Database Cursor Streaming Export</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217920" y="1463040"/>
          <a:ext cx="5212080" cy="914400"/>
        </p:xfrm>
        <a:graphic>
          <a:graphicData uri="http://schemas.openxmlformats.org/drawingml/2006/table">
            <a:tbl>
              <a:tblPr/>
              <a:tblGrid>
                <a:gridCol w="1828800"/>
                <a:gridCol w="2286000"/>
                <a:gridCol w="1097280"/>
              </a:tblGrid>
              <a:tr h="0">
                <a:tc>
                  <a:txBody>
                    <a:bodyPr/>
                    <a:lstStyle/>
                    <a:p>
                      <a:pPr indent="0" marL="0">
                        <a:buNone/>
                      </a:pPr>
                      <a:r>
                        <a:rPr lang="en-US" sz="850" b="1" dirty="0">
                          <a:solidFill>
                            <a:srgbClr val="FFFFFF"/>
                          </a:solidFill>
                          <a:latin typeface="Arial" pitchFamily="34" charset="0"/>
                          <a:ea typeface="Arial" pitchFamily="34" charset="-122"/>
                          <a:cs typeface="Arial" pitchFamily="34" charset="-120"/>
                        </a:rPr>
                        <a:t>Nama Akun</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334155"/>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Email Login</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334155"/>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Peran</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334155"/>
                    </a:solidFill>
                  </a:tcPr>
                </a:tc>
              </a:tr>
              <a:tr h="0">
                <a:tc>
                  <a:txBody>
                    <a:bodyPr/>
                    <a:lstStyle/>
                    <a:p>
                      <a:pPr indent="0" marL="0">
                        <a:buNone/>
                      </a:pPr>
                      <a:r>
                        <a:rPr lang="en-US" sz="850" dirty="0">
                          <a:solidFill>
                            <a:srgbClr val="94A3B8"/>
                          </a:solidFill>
                          <a:latin typeface="Arial" pitchFamily="34" charset="0"/>
                          <a:ea typeface="Arial" pitchFamily="34" charset="-122"/>
                          <a:cs typeface="Arial" pitchFamily="34" charset="-120"/>
                        </a:rPr>
                        <a:t>Superadmin Utama</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admin@cirebonkota.go.id</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superadmin</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850" dirty="0">
                          <a:solidFill>
                            <a:srgbClr val="94A3B8"/>
                          </a:solidFill>
                          <a:latin typeface="Arial" pitchFamily="34" charset="0"/>
                          <a:ea typeface="Arial" pitchFamily="34" charset="-122"/>
                          <a:cs typeface="Arial" pitchFamily="34" charset="-120"/>
                        </a:rPr>
                        <a:t>Akun Penguji</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ajriajundan@gmail.com</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superadmin</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850" dirty="0">
                          <a:solidFill>
                            <a:srgbClr val="94A3B8"/>
                          </a:solidFill>
                          <a:latin typeface="Arial" pitchFamily="34" charset="0"/>
                          <a:ea typeface="Arial" pitchFamily="34" charset="-122"/>
                          <a:cs typeface="Arial" pitchFamily="34" charset="-120"/>
                        </a:rPr>
                        <a:t>Operator Sandi</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operator@cirebonkota.go.id</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superadmin</a:t>
                      </a:r>
                      <a:endParaRPr lang="en-US" sz="850" dirty="0">
                        <a:latin typeface="Arial" charset="0"/>
                        <a:ea typeface="Arial" charset="0"/>
                        <a:cs typeface="Arial" charset="0"/>
                      </a:endParaRPr>
                    </a:p>
                  </a:txBody>
                  <a:tcPr marL="91440" marR="91440" marT="45720" marB="45720">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
        <p:nvSpPr>
          <p:cNvPr id="8" name="Shape 4"/>
          <p:cNvSpPr/>
          <p:nvPr/>
        </p:nvSpPr>
        <p:spPr>
          <a:xfrm>
            <a:off x="6217920" y="4389120"/>
            <a:ext cx="5212080" cy="1828800"/>
          </a:xfrm>
          <a:prstGeom prst="rect">
            <a:avLst/>
          </a:prstGeom>
          <a:solidFill>
            <a:srgbClr val="1E293B"/>
          </a:solidFill>
          <a:ln w="12700">
            <a:solidFill>
              <a:srgbClr val="F59E0B"/>
            </a:solidFill>
            <a:prstDash val="solid"/>
          </a:ln>
        </p:spPr>
      </p:sp>
      <p:sp>
        <p:nvSpPr>
          <p:cNvPr id="9" name="Text 5"/>
          <p:cNvSpPr/>
          <p:nvPr/>
        </p:nvSpPr>
        <p:spPr>
          <a:xfrm>
            <a:off x="6400800" y="4572000"/>
            <a:ext cx="4846320" cy="27432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Keamanan Kredensial Produksi:</a:t>
            </a:r>
            <a:endParaRPr lang="en-US" sz="1000" dirty="0"/>
          </a:p>
        </p:txBody>
      </p:sp>
      <p:sp>
        <p:nvSpPr>
          <p:cNvPr id="10" name="Text 6"/>
          <p:cNvSpPr/>
          <p:nvPr/>
        </p:nvSpPr>
        <p:spPr>
          <a:xfrm>
            <a:off x="6400800" y="4892040"/>
            <a:ext cx="4846320" cy="1188720"/>
          </a:xfrm>
          <a:prstGeom prst="rect">
            <a:avLst/>
          </a:prstGeom>
          <a:noFill/>
          <a:ln/>
        </p:spPr>
        <p:txBody>
          <a:bodyPr wrap="square" rtlCol="0" anchor="ctr"/>
          <a:lstStyle/>
          <a:p>
            <a:pPr indent="0" marL="0">
              <a:lnSpc>
                <a:spcPts val="1400"/>
              </a:lnSpc>
              <a:buNone/>
            </a:pPr>
            <a:r>
              <a:rPr lang="en-US" sz="900" dirty="0">
                <a:solidFill>
                  <a:srgbClr val="94A3B8"/>
                </a:solidFill>
                <a:latin typeface="Arial" pitchFamily="34" charset="0"/>
                <a:ea typeface="Arial" pitchFamily="34" charset="-122"/>
                <a:cs typeface="Arial" pitchFamily="34" charset="-120"/>
              </a:rPr>
              <a:t>• Seluruh password akun default dicatat aman pada dokumentasi internal.</a:t>
            </a:r>
            <a:endParaRPr lang="en-US" sz="900" dirty="0"/>
          </a:p>
          <a:p>
            <a:pPr indent="0" marL="0">
              <a:lnSpc>
                <a:spcPts val="1400"/>
              </a:lnSpc>
              <a:buNone/>
            </a:pPr>
            <a:r>
              <a:rPr lang="en-US" sz="900" dirty="0">
                <a:solidFill>
                  <a:srgbClr val="94A3B8"/>
                </a:solidFill>
                <a:latin typeface="Arial" pitchFamily="34" charset="0"/>
                <a:ea typeface="Arial" pitchFamily="34" charset="-122"/>
                <a:cs typeface="Arial" pitchFamily="34" charset="-120"/>
              </a:rPr>
              <a:t>• Superadmin wajib mengganti password saat sistem pertama kali dideploy di server produksi.</a:t>
            </a:r>
            <a:endParaRPr lang="en-US" sz="900" dirty="0"/>
          </a:p>
          <a:p>
            <a:pPr indent="0" marL="0">
              <a:lnSpc>
                <a:spcPts val="1400"/>
              </a:lnSpc>
              <a:buNone/>
            </a:pPr>
            <a:r>
              <a:rPr lang="en-US" sz="900" dirty="0">
                <a:solidFill>
                  <a:srgbClr val="94A3B8"/>
                </a:solidFill>
                <a:latin typeface="Arial" pitchFamily="34" charset="0"/>
                <a:ea typeface="Arial" pitchFamily="34" charset="-122"/>
                <a:cs typeface="Arial" pitchFamily="34" charset="-120"/>
              </a:rPr>
              <a:t>• Seluruh akun Superadmin diwajibkan mengaktifkan TOTP MFA (Google Authenticator).</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1097280"/>
            <a:ext cx="3200400" cy="320040"/>
          </a:xfrm>
          <a:prstGeom prst="rect">
            <a:avLst/>
          </a:prstGeom>
          <a:solidFill>
            <a:srgbClr val="1E293B"/>
          </a:solidFill>
          <a:ln w="12700">
            <a:solidFill>
              <a:srgbClr val="10B981"/>
            </a:solidFill>
            <a:prstDash val="solid"/>
          </a:ln>
        </p:spPr>
      </p:sp>
      <p:sp>
        <p:nvSpPr>
          <p:cNvPr id="3" name="Text 1"/>
          <p:cNvSpPr/>
          <p:nvPr/>
        </p:nvSpPr>
        <p:spPr>
          <a:xfrm>
            <a:off x="731520" y="1097280"/>
            <a:ext cx="3200400" cy="320040"/>
          </a:xfrm>
          <a:prstGeom prst="rect">
            <a:avLst/>
          </a:prstGeom>
          <a:noFill/>
          <a:ln/>
        </p:spPr>
        <p:txBody>
          <a:bodyPr wrap="square" rtlCol="0" anchor="ctr"/>
          <a:lstStyle/>
          <a:p>
            <a:pPr algn="ctr" indent="0" marL="0">
              <a:buNone/>
            </a:pPr>
            <a:r>
              <a:rPr lang="en-US" sz="900" b="1" dirty="0">
                <a:solidFill>
                  <a:srgbClr val="10B981"/>
                </a:solidFill>
                <a:latin typeface="Courier New" pitchFamily="34" charset="0"/>
                <a:ea typeface="Courier New" pitchFamily="34" charset="-122"/>
                <a:cs typeface="Courier New" pitchFamily="34" charset="-120"/>
              </a:rPr>
              <a:t>STATUS: PRODUCTION READY</a:t>
            </a:r>
            <a:endParaRPr lang="en-US" sz="900" dirty="0"/>
          </a:p>
        </p:txBody>
      </p:sp>
      <p:sp>
        <p:nvSpPr>
          <p:cNvPr id="4" name="Text 2"/>
          <p:cNvSpPr/>
          <p:nvPr/>
        </p:nvSpPr>
        <p:spPr>
          <a:xfrm>
            <a:off x="731520" y="1645920"/>
            <a:ext cx="10515600" cy="109728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SISTEM SIAP BEROPERASI SECARA</a:t>
            </a:r>
            <a:endParaRPr lang="en-US" sz="2800" dirty="0"/>
          </a:p>
          <a:p>
            <a:pPr indent="0" marL="0">
              <a:buNone/>
            </a:pPr>
            <a:r>
              <a:rPr lang="en-US" sz="2800" b="1" dirty="0">
                <a:solidFill>
                  <a:srgbClr val="FFFFFF"/>
                </a:solidFill>
                <a:latin typeface="Arial" pitchFamily="34" charset="0"/>
                <a:ea typeface="Arial" pitchFamily="34" charset="-122"/>
                <a:cs typeface="Arial" pitchFamily="34" charset="-120"/>
              </a:rPr>
              <a:t>STABIL, EFISIEN &amp; AMAN</a:t>
            </a:r>
            <a:endParaRPr lang="en-US" sz="2800" dirty="0"/>
          </a:p>
        </p:txBody>
      </p:sp>
      <p:sp>
        <p:nvSpPr>
          <p:cNvPr id="5" name="Text 3"/>
          <p:cNvSpPr/>
          <p:nvPr/>
        </p:nvSpPr>
        <p:spPr>
          <a:xfrm>
            <a:off x="731520" y="2834640"/>
            <a:ext cx="10515600" cy="731520"/>
          </a:xfrm>
          <a:prstGeom prst="rect">
            <a:avLst/>
          </a:prstGeom>
          <a:noFill/>
          <a:ln/>
        </p:spPr>
        <p:txBody>
          <a:bodyPr wrap="square" rtlCol="0" anchor="ctr"/>
          <a:lstStyle/>
          <a:p>
            <a:pPr indent="0" marL="0">
              <a:lnSpc>
                <a:spcPts val="1800"/>
              </a:lnSpc>
              <a:buNone/>
            </a:pPr>
            <a:r>
              <a:rPr lang="en-US" sz="1200" dirty="0">
                <a:solidFill>
                  <a:srgbClr val="94A3B8"/>
                </a:solidFill>
                <a:latin typeface="Arial" pitchFamily="34" charset="0"/>
                <a:ea typeface="Arial" pitchFamily="34" charset="-122"/>
                <a:cs typeface="Arial" pitchFamily="34" charset="-120"/>
              </a:rPr>
              <a:t>Sistem Monitoring Penerbitan TTE &amp; Pelayanan Email Dinas Resmi V4.1 Pemerintah Kota Cirebon telah memenuhi seluruh standar SPBE, regulasi UU PDP No. 27/2022, standar persandian BSSN, dan hasil audit kode program 4 pilar.</a:t>
            </a:r>
            <a:endParaRPr lang="en-US" sz="1200" dirty="0"/>
          </a:p>
        </p:txBody>
      </p:sp>
      <p:sp>
        <p:nvSpPr>
          <p:cNvPr id="6" name="Shape 4"/>
          <p:cNvSpPr/>
          <p:nvPr/>
        </p:nvSpPr>
        <p:spPr>
          <a:xfrm>
            <a:off x="731520" y="3749040"/>
            <a:ext cx="3383280" cy="1645920"/>
          </a:xfrm>
          <a:prstGeom prst="rect">
            <a:avLst/>
          </a:prstGeom>
          <a:solidFill>
            <a:srgbClr val="1E293B"/>
          </a:solidFill>
          <a:ln w="12700">
            <a:solidFill>
              <a:srgbClr val="06B6D4"/>
            </a:solidFill>
            <a:prstDash val="solid"/>
          </a:ln>
        </p:spPr>
      </p:sp>
      <p:sp>
        <p:nvSpPr>
          <p:cNvPr id="7" name="Text 5"/>
          <p:cNvSpPr/>
          <p:nvPr/>
        </p:nvSpPr>
        <p:spPr>
          <a:xfrm>
            <a:off x="914400" y="3931920"/>
            <a:ext cx="301752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Berdaulat &amp; Terenkripsi</a:t>
            </a:r>
            <a:endParaRPr lang="en-US" sz="1100" dirty="0"/>
          </a:p>
        </p:txBody>
      </p:sp>
      <p:sp>
        <p:nvSpPr>
          <p:cNvPr id="8" name="Text 6"/>
          <p:cNvSpPr/>
          <p:nvPr/>
        </p:nvSpPr>
        <p:spPr>
          <a:xfrm>
            <a:off x="914400" y="4251960"/>
            <a:ext cx="3017520" cy="1005840"/>
          </a:xfrm>
          <a:prstGeom prst="rect">
            <a:avLst/>
          </a:prstGeom>
          <a:noFill/>
          <a:ln/>
        </p:spPr>
        <p:txBody>
          <a:bodyPr wrap="square" rtlCol="0" anchor="ctr"/>
          <a:lstStyle/>
          <a:p>
            <a:pPr indent="0" marL="0">
              <a:lnSpc>
                <a:spcPts val="1300"/>
              </a:lnSpc>
              <a:buNone/>
            </a:pPr>
            <a:r>
              <a:rPr lang="en-US" sz="900" dirty="0">
                <a:solidFill>
                  <a:srgbClr val="94A3B8"/>
                </a:solidFill>
                <a:latin typeface="Arial" pitchFamily="34" charset="0"/>
                <a:ea typeface="Arial" pitchFamily="34" charset="-122"/>
                <a:cs typeface="Arial" pitchFamily="34" charset="-120"/>
              </a:rPr>
              <a:t>Penyimpanan lokal di PostgreSQL 16 dengan enkripsi AES-256-GCM pada data NIK/NIP ASN.</a:t>
            </a:r>
            <a:endParaRPr lang="en-US" sz="900" dirty="0"/>
          </a:p>
        </p:txBody>
      </p:sp>
      <p:sp>
        <p:nvSpPr>
          <p:cNvPr id="9" name="Shape 7"/>
          <p:cNvSpPr/>
          <p:nvPr/>
        </p:nvSpPr>
        <p:spPr>
          <a:xfrm>
            <a:off x="4389120" y="3749040"/>
            <a:ext cx="3383280" cy="1645920"/>
          </a:xfrm>
          <a:prstGeom prst="rect">
            <a:avLst/>
          </a:prstGeom>
          <a:solidFill>
            <a:srgbClr val="1E293B"/>
          </a:solidFill>
          <a:ln w="12700">
            <a:solidFill>
              <a:srgbClr val="10B981"/>
            </a:solidFill>
            <a:prstDash val="solid"/>
          </a:ln>
        </p:spPr>
      </p:sp>
      <p:sp>
        <p:nvSpPr>
          <p:cNvPr id="10" name="Text 8"/>
          <p:cNvSpPr/>
          <p:nvPr/>
        </p:nvSpPr>
        <p:spPr>
          <a:xfrm>
            <a:off x="4572000" y="3931920"/>
            <a:ext cx="301752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Resiliensi Low-Bandwidth</a:t>
            </a:r>
            <a:endParaRPr lang="en-US" sz="1100" dirty="0"/>
          </a:p>
        </p:txBody>
      </p:sp>
      <p:sp>
        <p:nvSpPr>
          <p:cNvPr id="11" name="Text 9"/>
          <p:cNvSpPr/>
          <p:nvPr/>
        </p:nvSpPr>
        <p:spPr>
          <a:xfrm>
            <a:off x="4572000" y="4251960"/>
            <a:ext cx="3017520" cy="1005840"/>
          </a:xfrm>
          <a:prstGeom prst="rect">
            <a:avLst/>
          </a:prstGeom>
          <a:noFill/>
          <a:ln/>
        </p:spPr>
        <p:txBody>
          <a:bodyPr wrap="square" rtlCol="0" anchor="ctr"/>
          <a:lstStyle/>
          <a:p>
            <a:pPr indent="0" marL="0">
              <a:lnSpc>
                <a:spcPts val="1300"/>
              </a:lnSpc>
              <a:buNone/>
            </a:pPr>
            <a:r>
              <a:rPr lang="en-US" sz="900" dirty="0">
                <a:solidFill>
                  <a:srgbClr val="94A3B8"/>
                </a:solidFill>
                <a:latin typeface="Arial" pitchFamily="34" charset="0"/>
                <a:ea typeface="Arial" pitchFamily="34" charset="-122"/>
                <a:cs typeface="Arial" pitchFamily="34" charset="-120"/>
              </a:rPr>
              <a:t>100% Zero CDN &amp; form pendaftaran &lt; 5 KB untuk kemudahan akses di kantor pelosok.</a:t>
            </a:r>
            <a:endParaRPr lang="en-US" sz="900" dirty="0"/>
          </a:p>
        </p:txBody>
      </p:sp>
      <p:sp>
        <p:nvSpPr>
          <p:cNvPr id="12" name="Shape 10"/>
          <p:cNvSpPr/>
          <p:nvPr/>
        </p:nvSpPr>
        <p:spPr>
          <a:xfrm>
            <a:off x="8046720" y="3749040"/>
            <a:ext cx="3383280" cy="1645920"/>
          </a:xfrm>
          <a:prstGeom prst="rect">
            <a:avLst/>
          </a:prstGeom>
          <a:solidFill>
            <a:srgbClr val="1E293B"/>
          </a:solidFill>
          <a:ln w="12700">
            <a:solidFill>
              <a:srgbClr val="F59E0B"/>
            </a:solidFill>
            <a:prstDash val="solid"/>
          </a:ln>
        </p:spPr>
      </p:sp>
      <p:sp>
        <p:nvSpPr>
          <p:cNvPr id="13" name="Text 11"/>
          <p:cNvSpPr/>
          <p:nvPr/>
        </p:nvSpPr>
        <p:spPr>
          <a:xfrm>
            <a:off x="8229600" y="3931920"/>
            <a:ext cx="301752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Zero-Trust VPN Gateway</a:t>
            </a:r>
            <a:endParaRPr lang="en-US" sz="1100" dirty="0"/>
          </a:p>
        </p:txBody>
      </p:sp>
      <p:sp>
        <p:nvSpPr>
          <p:cNvPr id="14" name="Text 12"/>
          <p:cNvSpPr/>
          <p:nvPr/>
        </p:nvSpPr>
        <p:spPr>
          <a:xfrm>
            <a:off x="8229600" y="4251960"/>
            <a:ext cx="3017520" cy="1005840"/>
          </a:xfrm>
          <a:prstGeom prst="rect">
            <a:avLst/>
          </a:prstGeom>
          <a:noFill/>
          <a:ln/>
        </p:spPr>
        <p:txBody>
          <a:bodyPr wrap="square" rtlCol="0" anchor="ctr"/>
          <a:lstStyle/>
          <a:p>
            <a:pPr indent="0" marL="0">
              <a:lnSpc>
                <a:spcPts val="1300"/>
              </a:lnSpc>
              <a:buNone/>
            </a:pPr>
            <a:r>
              <a:rPr lang="en-US" sz="900" dirty="0">
                <a:solidFill>
                  <a:srgbClr val="94A3B8"/>
                </a:solidFill>
                <a:latin typeface="Arial" pitchFamily="34" charset="0"/>
                <a:ea typeface="Arial" pitchFamily="34" charset="-122"/>
                <a:cs typeface="Arial" pitchFamily="34" charset="-120"/>
              </a:rPr>
              <a:t>Panel administrasi terisolasi penuh dari ancaman bot internet publik dengan Stealth 404.</a:t>
            </a:r>
            <a:endParaRPr lang="en-US" sz="900" dirty="0"/>
          </a:p>
        </p:txBody>
      </p:sp>
      <p:sp>
        <p:nvSpPr>
          <p:cNvPr id="15" name="Text 13"/>
          <p:cNvSpPr/>
          <p:nvPr/>
        </p:nvSpPr>
        <p:spPr>
          <a:xfrm>
            <a:off x="731520" y="6035040"/>
            <a:ext cx="10698480" cy="365760"/>
          </a:xfrm>
          <a:prstGeom prst="rect">
            <a:avLst/>
          </a:prstGeom>
          <a:noFill/>
          <a:ln/>
        </p:spPr>
        <p:txBody>
          <a:bodyPr wrap="square" rtlCol="0" anchor="ctr"/>
          <a:lstStyle/>
          <a:p>
            <a:pPr algn="ctr" indent="0" marL="0">
              <a:buNone/>
            </a:pPr>
            <a:r>
              <a:rPr lang="en-US" sz="950" dirty="0">
                <a:solidFill>
                  <a:srgbClr val="94A3B8"/>
                </a:solidFill>
                <a:latin typeface="Courier New" pitchFamily="34" charset="0"/>
                <a:ea typeface="Courier New" pitchFamily="34" charset="-122"/>
                <a:cs typeface="Courier New" pitchFamily="34" charset="-120"/>
              </a:rPr>
              <a:t>HAK CIPTA © 2026 DINAS KOMUNIKASI DAN INFORMATIKA / BIDANG PERSANDIAN KOTA CIREBON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Pemerintah Kota Cirebon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Presentasi Sistem Monitoring TTE &amp; Email Dinas Resmi Pemkot Cirebon</dc:title>
  <dc:subject>Penjelasan Lengkap Arsitektur, Fitur &amp; Operasional Sistem V4.1</dc:subject>
  <dc:creator>Diskominfo / Bidang Persandian Pemerintah Kota Cirebon</dc:creator>
  <cp:lastModifiedBy>Diskominfo / Bidang Persandian Pemerintah Kota Cirebon</cp:lastModifiedBy>
  <cp:revision>4.1</cp:revision>
  <dcterms:created xsi:type="dcterms:W3CDTF">2026-09-01T01:32:57Z</dcterms:created>
  <dcterms:modified xsi:type="dcterms:W3CDTF">2026-09-01T01:32:57Z</dcterms:modified>
</cp:coreProperties>
</file>